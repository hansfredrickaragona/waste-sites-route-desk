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316329b5472443a" /><Relationship Type="http://schemas.openxmlformats.org/officeDocument/2006/relationships/extended-properties" Target="/docProps/app.xml" Id="Rce8ab72224c94c62" /><Relationship Type="http://schemas.openxmlformats.org/officeDocument/2006/relationships/officeDocument" Target="/ppt/presentation.xml" Id="Rd0d99d9c410d4c88" /></Relationships>
</file>

<file path=ppt/presentation.xml><?xml version="1.0" encoding="utf-8"?>
<p:presentation xmlns:p="http://schemas.openxmlformats.org/presentationml/2006/main">
  <p:sldMasterIdLst>
    <p:sldMasterId xmlns:r="http://schemas.openxmlformats.org/officeDocument/2006/relationships" id="2147483648" r:id="R8401e56250eb4acf"/>
  </p:sldMasterIdLst>
  <p:notesMasterIdLst>
    <p:notesMasterId xmlns:r="http://schemas.openxmlformats.org/officeDocument/2006/relationships" r:id="R8b3af8f8377e4efe"/>
  </p:notesMasterIdLst>
  <p:sldIdLst>
    <p:sldId xmlns:r="http://schemas.openxmlformats.org/officeDocument/2006/relationships" id="256" r:id="R62f49c4e3f844b57"/>
    <p:sldId xmlns:r="http://schemas.openxmlformats.org/officeDocument/2006/relationships" id="257" r:id="R121ded5b8a7a4a7b"/>
    <p:sldId xmlns:r="http://schemas.openxmlformats.org/officeDocument/2006/relationships" id="258" r:id="Ra0a5803aa43a4c4a"/>
    <p:sldId xmlns:r="http://schemas.openxmlformats.org/officeDocument/2006/relationships" id="259" r:id="R8949dd8d619c4ec4"/>
    <p:sldId xmlns:r="http://schemas.openxmlformats.org/officeDocument/2006/relationships" id="260" r:id="R7610fa70d502478f"/>
    <p:sldId xmlns:r="http://schemas.openxmlformats.org/officeDocument/2006/relationships" id="261" r:id="R05b8f0926bc34e04"/>
    <p:sldId xmlns:r="http://schemas.openxmlformats.org/officeDocument/2006/relationships" id="262" r:id="R734528eb111144d2"/>
    <p:sldId xmlns:r="http://schemas.openxmlformats.org/officeDocument/2006/relationships" id="263" r:id="Rf2ce680cd0f54ef0"/>
    <p:sldId xmlns:r="http://schemas.openxmlformats.org/officeDocument/2006/relationships" id="264" r:id="Rc4b52348e24f4113"/>
    <p:sldId xmlns:r="http://schemas.openxmlformats.org/officeDocument/2006/relationships" id="265" r:id="R9b71844c67664850"/>
    <p:sldId xmlns:r="http://schemas.openxmlformats.org/officeDocument/2006/relationships" id="266" r:id="Rabf74793e0444621"/>
    <p:sldId xmlns:r="http://schemas.openxmlformats.org/officeDocument/2006/relationships" id="267" r:id="Rc2224eb612cd4fc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2997b166044c74" /><Relationship Type="http://schemas.openxmlformats.org/officeDocument/2006/relationships/slideMaster" Target="/ppt/slideMasters/slideMaster1.xml" Id="R8401e56250eb4acf" /><Relationship Type="http://schemas.openxmlformats.org/officeDocument/2006/relationships/notesMaster" Target="/ppt/notesMasters/notesMaster1.xml" Id="R8b3af8f8377e4efe" /><Relationship Type="http://schemas.openxmlformats.org/officeDocument/2006/relationships/presProps" Target="/ppt/presProps.xml" Id="Rf5fe8d0287454510" /><Relationship Type="http://schemas.openxmlformats.org/officeDocument/2006/relationships/tableStyles" Target="/ppt/tableStyles.xml" Id="Rf223e03231a643d8" /><Relationship Type="http://schemas.openxmlformats.org/officeDocument/2006/relationships/slide" Target="/ppt/slides/slide1.xml" Id="R62f49c4e3f844b57" /><Relationship Type="http://schemas.openxmlformats.org/officeDocument/2006/relationships/slide" Target="/ppt/slides/slide2.xml" Id="R121ded5b8a7a4a7b" /><Relationship Type="http://schemas.openxmlformats.org/officeDocument/2006/relationships/slide" Target="/ppt/slides/slide3.xml" Id="Ra0a5803aa43a4c4a" /><Relationship Type="http://schemas.openxmlformats.org/officeDocument/2006/relationships/slide" Target="/ppt/slides/slide4.xml" Id="R8949dd8d619c4ec4" /><Relationship Type="http://schemas.openxmlformats.org/officeDocument/2006/relationships/slide" Target="/ppt/slides/slide5.xml" Id="R7610fa70d502478f" /><Relationship Type="http://schemas.openxmlformats.org/officeDocument/2006/relationships/slide" Target="/ppt/slides/slide6.xml" Id="R05b8f0926bc34e04" /><Relationship Type="http://schemas.openxmlformats.org/officeDocument/2006/relationships/slide" Target="/ppt/slides/slide7.xml" Id="R734528eb111144d2" /><Relationship Type="http://schemas.openxmlformats.org/officeDocument/2006/relationships/slide" Target="/ppt/slides/slide8.xml" Id="Rf2ce680cd0f54ef0" /><Relationship Type="http://schemas.openxmlformats.org/officeDocument/2006/relationships/slide" Target="/ppt/slides/slide9.xml" Id="Rc4b52348e24f4113" /><Relationship Type="http://schemas.openxmlformats.org/officeDocument/2006/relationships/slide" Target="/ppt/slides/slide10.xml" Id="R9b71844c67664850" /><Relationship Type="http://schemas.openxmlformats.org/officeDocument/2006/relationships/slide" Target="/ppt/slides/slide11.xml" Id="Rabf74793e0444621" /><Relationship Type="http://schemas.openxmlformats.org/officeDocument/2006/relationships/slide" Target="/ppt/slides/slide12.xml" Id="Rc2224eb612cd4f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10f44064904e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7df3c2fd204a8e" /><Relationship Type="http://schemas.openxmlformats.org/officeDocument/2006/relationships/notesMaster" Target="/ppt/notesMasters/notesMaster1.xml" Id="Re4136b4d18ab42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f47c74187b4670" /><Relationship Type="http://schemas.openxmlformats.org/officeDocument/2006/relationships/notesMaster" Target="/ppt/notesMasters/notesMaster1.xml" Id="Ra13d2e6a78dd49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48728beffd41d8" /><Relationship Type="http://schemas.openxmlformats.org/officeDocument/2006/relationships/notesMaster" Target="/ppt/notesMasters/notesMaster1.xml" Id="R7029af1cc30e4c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d781091b5641f9" /><Relationship Type="http://schemas.openxmlformats.org/officeDocument/2006/relationships/notesMaster" Target="/ppt/notesMasters/notesMaster1.xml" Id="R6aed9a990b1b49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73336e12fb45f4" /><Relationship Type="http://schemas.openxmlformats.org/officeDocument/2006/relationships/notesMaster" Target="/ppt/notesMasters/notesMaster1.xml" Id="R39053c50e3da48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65fcbffb9345cf" /><Relationship Type="http://schemas.openxmlformats.org/officeDocument/2006/relationships/notesMaster" Target="/ppt/notesMasters/notesMaster1.xml" Id="Rbc958016d8f34b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55cb50b7454faa" /><Relationship Type="http://schemas.openxmlformats.org/officeDocument/2006/relationships/notesMaster" Target="/ppt/notesMasters/notesMaster1.xml" Id="R6126b62b0f0744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9d3d14da4043aa" /><Relationship Type="http://schemas.openxmlformats.org/officeDocument/2006/relationships/notesMaster" Target="/ppt/notesMasters/notesMaster1.xml" Id="R9e5d765830cc47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1d63e4d2de416e" /><Relationship Type="http://schemas.openxmlformats.org/officeDocument/2006/relationships/notesMaster" Target="/ppt/notesMasters/notesMaster1.xml" Id="R2185097301c844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3c340b20e744bc" /><Relationship Type="http://schemas.openxmlformats.org/officeDocument/2006/relationships/notesMaster" Target="/ppt/notesMasters/notesMaster1.xml" Id="R665abdcc92a849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9f049e5722c4d69" /><Relationship Type="http://schemas.openxmlformats.org/officeDocument/2006/relationships/notesMaster" Target="/ppt/notesMasters/notesMaster1.xml" Id="R7866f4e2d2e0470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5313c48a564772" /><Relationship Type="http://schemas.openxmlformats.org/officeDocument/2006/relationships/notesMaster" Target="/ppt/notesMasters/notesMaster1.xml" Id="Rd42fcf0f34d84f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Purpose: tell the progression from the initial schedule and location concerns to operational bottlenecks, then present conditional options for improvement. This is a concise decision discussion, not a full engineering, legal or financial feasibility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Before Field 1, the team questioned scheduling and the accuracy of collection-site locations. Field 1 supplied an updated paper schedule and its applicability, clarifying current assignments. It did not clean the messy source records or complete location validation. GSO requested cleanup, which MITD did not accept because it was outside its scope. The meeting after Field 1 raised two-shift feasibility, schedule preparation and segregation questions. Field 2 interviewed 12 of 27 drivers and clarified process flow, staffing and data practices.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Reported working fleet: 25 collection trucks and 27 drivers, a difference of two. Approximately 10 trucks are more than 10 years old, equivalent to about 40% of the reported fleet. Age does not establish mechanical fitness. The other reported age ranges include 5–8 and 1–3 years. Tuba handles residual waste. Irisan handles biodegradable food waste and also serves as a parking location. About 15–16 trucks reportedly park in Irisan, in addition to other unused, junk or non-collection vehicles. This parking count must not be treated as the city’s whole collection fleet.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The initial hypothesis was that segregation at collection and transfer might explain the bottleneck. Field 2 found no additional segregation when trucks unload at Tuba. Volunteers sort onboard, including in transit, both to recover recyclables and to help maximize truck space. Collection includes partial sorting, but this does not mean all sorting finishes before leaving a point. Volunteers usually wait in Irisan or New Lucban. Pickup cases are rare, rather than absent. GSO parking serves maintenance. These findings do not quantify sorting time or establish its net effect on collection productivity.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The scheduled morning shift is 4 a.m.–1 p.m., a nine-hour elapsed window. Three drivers interviewed by the user reported starting around 2 a.m. and were still on duty at about 3 p.m., already 13 elapsed hours. This is interview evidence from those cases, not a measured fleetwide mean or their final shift length. The chart compares a planned window and elapsed time in specific cases, not two averages. Drivers described three trips of about 3.5–4 hours, equivalent to 10.5–12 hours of trip time. The treatment of queues, unloading and breaks is uncertain. Operationally a shift ends when assigned areas are completed, with backlog support sometimes added. GSO acknowledged extensions, but the interviews did not establish a specific preventive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Respondents reported about 24–25 trucks in use on weekdays and 8–9 on weekends, mainly because weekends coincide with driver days off and limited relief capacity. These are reported ranges, not a daily deployment audit. A later allocation described 22 morning trucks and three afternoon/emergency trucks. The near one-to-one truck/driver ratio restricts the ability to operate extra shifts or cover leave. Twenty-seven drivers do not mean twenty-seven drivers available at all times. Budget and authorized staffing were described as hiring constraints. Interested applicants do not establish that the recruitment process alone is the bottleneck. Drivers need rest. Claims that all trucks require fixed days of rest lacked supporting maintenance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The schedule uses previous Tuba records and geographic proximity on the Baguio map. Assignments reportedly undergo yearly review. Drivers adjust road routes mainly for traffic and occasionally parked vehicles. Some drivers cover CBD and RIC 1/RIC 2 areas with daily demand. Firing line collection involves a truck moving slowly along a line of set-out waste. Collection points are piles or tambakan. Some points need two trips and others are smaller, so point count or proximity alone is a poor proxy for workload. Backlogs either move to another available truck or receive priority next time, changing route order. No schedule changes were reported in the supplied two-week period, which does not imply fixed daily routes. Attendance at New Lucban can add travel when drivers use a truck for time-in/out, though this is not required. Parking and attendance travel costs were not quantified. Late set-outs after collection should be distinguished from missed or incomplete collection.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Volunteers earn by recovering and selling recyclable materials, and choose which trucks or routes to join. Respondents described greater volunteer participation on routes with recoverable recyclables and less on mainly biodegradable CBD/RIC work. Crew composition varies. Examples included one driver, 2–3 regular collectors and 3–5 volunteers, or one driver with five regular collectors and fewer volunteers. One example totals 9–10 people including a driver, three regular staff and 5–6 volunteers. Ten is not an audited average. Volunteers assist sorting/recovery and load arrangement. Removing this work could reduce their earnings and willingness to join, offsetting any task-time saving. Source segregation, recyclable recovery and load arrangement should be timed separately. Sir J. Ku verbally confirmed the questionnaire discussion and cited RA 9003, but this deck makes no legal finding or claim that the statute specifically requires reopening every bag on a truck.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The team identified scheduling and confirmation roles during Field 2, but named role holders are not supplied in the narrative. Annual assignment draws on historical Tuba movement records and geographic proximity. Tuba logs mainly capture truck in/out movements with limited notes, making emergencies and backlog causes difficult to isolate. Drivers communicate through calls, chat, texts and verbal reports. Manual driver interviews linked each trip to barangays and collection-point counts, but not a measured weight at each point. Better records are a proposed improvement, not a claim that GSO has no operational information at all. MITD’s role should be defined within scope and GSO should own source-data cleanup.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GSO, mainly Sir Kenneth, expressed concern that rush-hour traffic would limit the additional output and value of a second shift. Drivers generally expected better collection capacity, but could not quantify the gain. Neither view was supported by enough recorded before/after data. Two shifts do not necessarily mean continuous 24-hour operation. Trucks under ten years old may be candidates, but age alone does not establish mechanical suitability. A pilot requires condition checks, a separate rested driver and crew, compatible receiving-station hours, maintenance planning and a baseline comparison. A machine needs inspection and maintenance as well as fuel. Fixed resting days should follow technical evidence rather than habit.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These are proposals, not proven outcomes or approved budgets. A second shift on suitable existing trucks requires separate crews and maintenance arrangements. Under-ten-year age may screen candidates but cannot approve them. Additional trucks need drivers and collectors if the objective is more simultaneous collection capacity. Replacing unreliable old trucks can instead improve reliability with existing crews, so it differs from expanding the fleet. Relief staffing may improve weekend coverage and reduce reliance on long duty, subject to authorized positions and funding. The observations do not establish recruitment-process failure. Costs and productivity gains require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Proposed sequence: GSO validates a shared daily trip register and fleet/crew roster, with MITD support only where within agreed scope. Suggested fields: date, truck and crew identifiers, start/end times, trip sites and completion, load measure where available, waste stream, traffic/queue/unloading time, trip purpose, backlog reason and resolution. Establish a baseline over representative weekdays and weekends. Review staffing and budget requirements, including relief coverage and consistent regular crews for routes with fewer volunteers. Run a small second-shift pilot on mechanically suitable trucks with separate crews. Compare completed collections and comparable load measures, backlog clearance, driver duty hours, fuel, downtime and cost per completed workload unit. Adopt a monthly review and event-triggered adjustments as a proposal, while retaining the annual assignment framework as appropriate. Do not claim measured return on investment before the pilot.</a:t>
            </a:r>
          </a:p>
          <a:p xmlns:a="http://schemas.openxmlformats.org/drawingml/2006/main">
            <a:r>
              <a:t/>
            </a:r>
          </a:p>
          <a:p xmlns:a="http://schemas.openxmlformats.org/drawingml/2006/main">
            <a:r>
              <a:t>Updated trip record workflow: truck arrival → gross weigh-in while loaded → dumping/unloading → tare weigh-out after dumping → departure for the next trip.</a:t>
            </a:r>
          </a:p>
          <a:p xmlns:a="http://schemas.openxmlformats.org/drawingml/2006/main">
            <a:r>
              <a:t/>
            </a:r>
          </a:p>
          <a:p xmlns:a="http://schemas.openxmlformats.org/drawingml/2006/main">
            <a:r>
              <a:t>Required record fields: Status, Plate No., Gross (kg), Tare (kg), Net (kg), Departure, Arrival, Source (one or more collection sites), Driver and Last Updated. Net is calculated as Gross minus Tare when both weights are recorded. Refresh Last Updated whenever the record changes. Suggested status progression: Awaiting weigh-in → Dumping → Ready to depart →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07daed3c3a4d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691198b37c44a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7520fabc92a442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83edfd59e6483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b49d9d6bb2549a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f26a39c20b42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93015D1-EE9D-4B2F-81CF-6E7A8F682436}"/>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CE3A4CE-CA3C-4E68-B25B-FCFC0CA7DBB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D2DDC01B-0E74-402D-8E6C-8853C0D96B5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18CD0C14-9EA9-4BE8-8AAD-AE6D176843EC}"/>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169EA9FF-55CE-4011-8623-F2CECF11B3F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9D38E45-F7A6-4FB1-A989-BCFFA910E36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49FEA6F-362E-401C-ABF1-868AA8BAF4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2057760C-CB79-40AC-BF4F-00DF53200CA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251B07E6-3C9A-4842-959D-498B15DB6BC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C48E094-31CC-44F1-AEFB-DCA3868EF5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E5EC5C4C-41AE-48B8-AD3C-8760747146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86AAC834-FD06-4368-8499-A9CDE22A7B1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B218E19-4C1A-42A8-9B43-FE813655B11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417A229-8D8D-423F-9AA9-8E5362AC8D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7AAC05-501C-47F4-B49E-4D83F035BD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319019ac344b2f" /><Relationship Type="http://schemas.openxmlformats.org/officeDocument/2006/relationships/slideLayout" Target="/ppt/slideLayouts/slideLayout1.xml" Id="R6dc1e19b6bc145e8" /><Relationship Type="http://schemas.openxmlformats.org/officeDocument/2006/relationships/slideLayout" Target="/ppt/slideLayouts/slideLayout2.xml" Id="R28d3306be94d4f65" /><Relationship Type="http://schemas.openxmlformats.org/officeDocument/2006/relationships/slideLayout" Target="/ppt/slideLayouts/slideLayout3.xml" Id="Rf3c7bb246c94458e" /><Relationship Type="http://schemas.openxmlformats.org/officeDocument/2006/relationships/slideLayout" Target="/ppt/slideLayouts/slideLayout4.xml" Id="Rbfb7c6ed2aa2483a" /><Relationship Type="http://schemas.openxmlformats.org/officeDocument/2006/relationships/slideLayout" Target="/ppt/slideLayouts/slideLayout5.xml" Id="R83096f2144af4e07" /><Relationship Type="http://schemas.openxmlformats.org/officeDocument/2006/relationships/slideLayout" Target="/ppt/slideLayouts/slideLayout6.xml" Id="R4850b36ef0fe4c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c1e19b6bc145e8"/>
    <p:sldLayoutId xmlns:r="http://schemas.openxmlformats.org/officeDocument/2006/relationships" id="2147483650" r:id="R28d3306be94d4f65"/>
    <p:sldLayoutId xmlns:r="http://schemas.openxmlformats.org/officeDocument/2006/relationships" id="2147483651" r:id="Rf3c7bb246c94458e"/>
    <p:sldLayoutId xmlns:r="http://schemas.openxmlformats.org/officeDocument/2006/relationships" id="2147483652" r:id="Rbfb7c6ed2aa2483a"/>
    <p:sldLayoutId xmlns:r="http://schemas.openxmlformats.org/officeDocument/2006/relationships" id="2147483653" r:id="R83096f2144af4e07"/>
    <p:sldLayoutId xmlns:r="http://schemas.openxmlformats.org/officeDocument/2006/relationships" id="2147483654" r:id="R4850b36ef0fe4c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b93dd35bb724455" /><Relationship Type="http://schemas.openxmlformats.org/officeDocument/2006/relationships/notesSlide" Target="/ppt/notesSlides/notesSlide1.xml" Id="R08fad911d52d44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d8efd05748c4623" /><Relationship Type="http://schemas.openxmlformats.org/officeDocument/2006/relationships/notesSlide" Target="/ppt/notesSlides/notesSlide2.xml" Id="R750c26108aed41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db273ac48114a82" /><Relationship Type="http://schemas.openxmlformats.org/officeDocument/2006/relationships/notesSlide" Target="/ppt/notesSlides/notesSlide3.xml" Id="R5122fb50ae1741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70bbbe35a1049b9" /><Relationship Type="http://schemas.openxmlformats.org/officeDocument/2006/relationships/notesSlide" Target="/ppt/notesSlides/notesSlide4.xml" Id="R97443f94d0e348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215b824b4ea445d" /><Relationship Type="http://schemas.openxmlformats.org/officeDocument/2006/relationships/chart" Target="/ppt/slides/charts/chart1.xml" Id="R47e48cf5d3a949f0" /><Relationship Type="http://schemas.openxmlformats.org/officeDocument/2006/relationships/notesSlide" Target="/ppt/notesSlides/notesSlide5.xml" Id="R66732819add548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feea93643744667" /><Relationship Type="http://schemas.openxmlformats.org/officeDocument/2006/relationships/notesSlide" Target="/ppt/notesSlides/notesSlide6.xml" Id="Rd376ad6a79144b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cf3c09484bb420a" /><Relationship Type="http://schemas.openxmlformats.org/officeDocument/2006/relationships/notesSlide" Target="/ppt/notesSlides/notesSlide7.xml" Id="R0125dc1d71bf40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559821b9d624082" /><Relationship Type="http://schemas.openxmlformats.org/officeDocument/2006/relationships/notesSlide" Target="/ppt/notesSlides/notesSlide8.xml" Id="R3daec40c54b640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8d98a3f73eb48b6" /><Relationship Type="http://schemas.openxmlformats.org/officeDocument/2006/relationships/notesSlide" Target="/ppt/notesSlides/notesSlide9.xml" Id="R7f220405e6b74bf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66db46197e441e7" /><Relationship Type="http://schemas.openxmlformats.org/officeDocument/2006/relationships/notesSlide" Target="/ppt/notesSlides/notesSlide10.xml" Id="Rc759ef9e25714a8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5697e2b4dbc4dea" /><Relationship Type="http://schemas.openxmlformats.org/officeDocument/2006/relationships/notesSlide" Target="/ppt/notesSlides/notesSlide11.xml" Id="R7cd8c63853e4470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e919d52d15c4af4" /><Relationship Type="http://schemas.openxmlformats.org/officeDocument/2006/relationships/notesSlide" Target="/ppt/notesSlides/notesSlide12.xml" Id="Rb90b71c829354ff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63C33"/>
                </a:solidFill>
                <a:latin typeface="Bitstream Charter"/>
                <a:ea typeface="Bitstream Charter"/>
                <a:cs typeface="Bitstream Charter"/>
              </a:rPr>
              <a:t>Elapsed hours</a:t>
            </a:r>
          </a:p>
        </c:rich>
      </c:tx>
      <c:overlay val="0"/>
      <c:txPr>
        <a:bodyPr xmlns:a="http://schemas.openxmlformats.org/drawingml/2006/main" anchorCtr="1"/>
        <a:lstStyle xmlns:a="http://schemas.openxmlformats.org/drawingml/2006/main"/>
        <a:p xmlns:a="http://schemas.openxmlformats.org/drawingml/2006/main">
          <a:pPr>
            <a:defRPr sz="1800">
              <a:solidFill>
                <a:srgbClr val="163C33"/>
              </a:solidFill>
              <a:latin typeface="Bitstream Charter"/>
              <a:ea typeface="Bitstream Charter"/>
              <a:cs typeface="Bitstream Charter"/>
            </a:defRPr>
          </a:pPr>
        </a:p>
      </c:txPr>
    </c:title>
    <c:plotArea>
      <c:barChart>
        <c:barDir val="bar"/>
        <c:grouping val="clustered"/>
        <c:varyColors val="0"/>
        <c:ser>
          <c:idx val="0"/>
          <c:order val="0"/>
          <c:tx>
            <c:v>Elapsed hours</c:v>
          </c:tx>
          <c:spPr>
            <a:solidFill xmlns:a="http://schemas.openxmlformats.org/drawingml/2006/main">
              <a:srgbClr val="2F7660"/>
            </a:solidFill>
          </c:spPr>
          <c:dPt>
            <c:idx val="1"/>
            <c:invertIfNegative val="0"/>
            <c:spPr>
              <a:solidFill xmlns:a="http://schemas.openxmlformats.org/drawingml/2006/main">
                <a:srgbClr val="C26A35"/>
              </a:solidFill>
            </c:spPr>
          </c:dPt>
          <c:cat>
            <c:strRef>
              <c:f>'Chart Data'!$A$2:$A$3</c:f>
              <c:strCache>
                <c:ptCount val="2"/>
                <c:pt idx="0">
                  <c:v>Paper shift</c:v>
                </c:pt>
                <c:pt idx="1">
                  <c:v>Interview cases</c:v>
                </c:pt>
              </c:strCache>
            </c:strRef>
          </c:cat>
          <c:val>
            <c:numRef>
              <c:f>'Chart Data'!$B$2:$B$3</c:f>
              <c:numCache>
                <c:formatCode>General</c:formatCode>
                <c:ptCount val="2"/>
                <c:pt idx="0">
                  <c:v>9</c:v>
                </c:pt>
                <c:pt idx="1">
                  <c:v>13</c:v>
                </c:pt>
              </c:numCache>
            </c:numRef>
          </c:val>
        </c:ser>
        <c:dLbls>
          <c:txPr>
            <a:bodyPr xmlns:a="http://schemas.openxmlformats.org/drawingml/2006/main" anchorCtr="1"/>
            <a:lstStyle xmlns:a="http://schemas.openxmlformats.org/drawingml/2006/main"/>
            <a:p xmlns:a="http://schemas.openxmlformats.org/drawingml/2006/main">
              <a:pPr>
                <a:defRPr sz="2250" b="1">
                  <a:solidFill>
                    <a:srgbClr val="163C33"/>
                  </a:solidFill>
                  <a:latin typeface="Bitstream Charter"/>
                  <a:ea typeface="Bitstream Charter"/>
                  <a:cs typeface="Bitstream Charter"/>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majorGridlines>
          <c:spPr>
            <a:ln xmlns:a="http://schemas.openxmlformats.org/drawingml/2006/main" w="9525">
              <a:solidFill>
                <a:srgbClr val="D9DED3"/>
              </a:solidFill>
            </a:ln>
          </c:spPr>
        </c:majorGridlines>
        <c:numFmt formatCode="0&quot;h&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07169"/>
                </a:solidFill>
                <a:latin typeface="Bitstream Charter"/>
                <a:ea typeface="Bitstream Charter"/>
                <a:cs typeface="Bitstream Charter"/>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63C33"/>
                </a:solidFill>
                <a:latin typeface="Bitstream Charter"/>
                <a:ea typeface="Bitstream Charter"/>
                <a:cs typeface="Bitstream Charter"/>
              </a:defRPr>
            </a:pPr>
          </a:p>
        </c:txPr>
        <c:crossAx val="48650112"/>
        <c:crossBetween val="between"/>
      </c:valAx>
      <c:spPr>
        <a:solidFill xmlns:a="http://schemas.openxmlformats.org/drawingml/2006/main">
          <a:srgbClr val="F4F1E9"/>
        </a:solidFill>
      </c:spPr>
    </c:plotArea>
    <c:plotVisOnly val="1"/>
  </c:chart>
  <c:spPr>
    <a:solidFill xmlns:a="http://schemas.openxmlformats.org/drawingml/2006/main">
      <a:srgbClr val="F4F1E9"/>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63C3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B13F3A-165B-494C-B5E9-26AC366617EC}"/>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D1E880"/>
                </a:solidFill>
                <a:latin typeface="Bitstream Charter"/>
                <a:ea typeface="Bitstream Charter"/>
                <a:cs typeface="Bitstream Charter"/>
              </a:defRPr>
            </a:pPr>
            <a:r>
              <a:rPr sz="1275" b="1">
                <a:solidFill>
                  <a:srgbClr val="D1E880"/>
                </a:solidFill>
                <a:latin typeface="Bitstream Charter"/>
                <a:ea typeface="Bitstream Charter"/>
                <a:cs typeface="Bitstream Charter"/>
              </a:rPr>
              <a:t>TWO FIELD VISITS</a:t>
            </a:r>
          </a:p>
        </p:txBody>
      </p:sp>
      <p:sp>
        <p:nvSpPr>
          <p:cNvPr id="2" name="">
            <a:extLst xmlns:a="http://schemas.openxmlformats.org/drawingml/2006/main">
              <a:ext uri="{FF2B5EF4-FFF2-40B4-BE49-F238E27FC236}">
                <a16:creationId xmlns:a16="http://schemas.microsoft.com/office/drawing/2014/main" id="{608722D9-65E4-43F9-BCFE-BAEBA9D62997}"/>
              </a:ext>
            </a:extLst>
          </p:cNvPr>
          <p:cNvSpPr>
            <a:spLocks xmlns:a="http://schemas.openxmlformats.org/drawingml/2006/main" noGrp="1"/>
          </p:cNvSpPr>
          <p:nvPr/>
        </p:nvSpPr>
        <p:spPr>
          <a:xfrm xmlns:a="http://schemas.openxmlformats.org/drawingml/2006/main">
            <a:off x="609600" y="1590675"/>
            <a:ext cx="10668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F4F1E9"/>
                </a:solidFill>
                <a:latin typeface="Bitstream Charter"/>
                <a:ea typeface="Bitstream Charter"/>
                <a:cs typeface="Bitstream Charter"/>
              </a:defRPr>
            </a:pPr>
            <a:r>
              <a:rPr sz="6600" b="1">
                <a:solidFill>
                  <a:srgbClr val="F4F1E9"/>
                </a:solidFill>
                <a:latin typeface="Bitstream Charter"/>
                <a:ea typeface="Bitstream Charter"/>
                <a:cs typeface="Bitstream Charter"/>
              </a:rPr>
              <a:t>Baguio waste</a:t>
            </a:r>
          </a:p>
          <a:p xmlns:a="http://schemas.openxmlformats.org/drawingml/2006/main">
            <a:pPr>
              <a:buNone/>
              <a:defRPr sz="6600" b="1">
                <a:solidFill>
                  <a:srgbClr val="F4F1E9"/>
                </a:solidFill>
                <a:latin typeface="Bitstream Charter"/>
                <a:ea typeface="Bitstream Charter"/>
                <a:cs typeface="Bitstream Charter"/>
              </a:defRPr>
            </a:pPr>
            <a:r>
              <a:rPr sz="6600" b="1">
                <a:solidFill>
                  <a:srgbClr val="F4F1E9"/>
                </a:solidFill>
                <a:latin typeface="Bitstream Charter"/>
                <a:ea typeface="Bitstream Charter"/>
                <a:cs typeface="Bitstream Charter"/>
              </a:rPr>
              <a:t>collection</a:t>
            </a:r>
          </a:p>
        </p:txBody>
      </p:sp>
      <p:sp>
        <p:nvSpPr>
          <p:cNvPr id="3" name="">
            <a:extLst xmlns:a="http://schemas.openxmlformats.org/drawingml/2006/main">
              <a:ext uri="{FF2B5EF4-FFF2-40B4-BE49-F238E27FC236}">
                <a16:creationId xmlns:a16="http://schemas.microsoft.com/office/drawing/2014/main" id="{F0937420-3F31-4D60-8FC8-9AE2C2FC66ED}"/>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A8BDB4"/>
                </a:solidFill>
                <a:latin typeface="Bitstream Charter"/>
                <a:ea typeface="Bitstream Charter"/>
                <a:cs typeface="Bitstream Charter"/>
              </a:defRPr>
            </a:pPr>
            <a:r>
              <a:rPr sz="1050" b="0">
                <a:solidFill>
                  <a:srgbClr val="A8BDB4"/>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3C17C2BF-6F22-405D-91FE-81DB53D54C88}"/>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D1E880"/>
                </a:solidFill>
                <a:latin typeface="Bitstream Charter"/>
                <a:ea typeface="Bitstream Charter"/>
                <a:cs typeface="Bitstream Charter"/>
              </a:defRPr>
            </a:pPr>
            <a:r>
              <a:rPr sz="1500" b="1">
                <a:solidFill>
                  <a:srgbClr val="D1E880"/>
                </a:solidFill>
                <a:latin typeface="Bitstream Charter"/>
                <a:ea typeface="Bitstream Charter"/>
                <a:cs typeface="Bitstream Charter"/>
              </a:rPr>
              <a:t>01</a:t>
            </a:r>
          </a:p>
        </p:txBody>
      </p:sp>
      <p:sp>
        <p:nvSpPr>
          <p:cNvPr id="5" name="">
            <a:extLst xmlns:a="http://schemas.openxmlformats.org/drawingml/2006/main">
              <a:ext uri="{FF2B5EF4-FFF2-40B4-BE49-F238E27FC236}">
                <a16:creationId xmlns:a16="http://schemas.microsoft.com/office/drawing/2014/main" id="{09950DBA-9D24-45FA-9523-816A73656C89}"/>
              </a:ext>
            </a:extLst>
          </p:cNvPr>
          <p:cNvSpPr>
            <a:spLocks xmlns:a="http://schemas.openxmlformats.org/drawingml/2006/main" noGrp="1"/>
          </p:cNvSpPr>
          <p:nvPr/>
        </p:nvSpPr>
        <p:spPr>
          <a:xfrm xmlns:a="http://schemas.openxmlformats.org/drawingml/2006/main">
            <a:off x="657225" y="4400550"/>
            <a:ext cx="1000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0">
                <a:solidFill>
                  <a:srgbClr val="D1E880"/>
                </a:solidFill>
                <a:latin typeface="Bitstream Charter"/>
                <a:ea typeface="Bitstream Charter"/>
                <a:cs typeface="Bitstream Charter"/>
              </a:defRPr>
            </a:pPr>
            <a:r>
              <a:rPr sz="2625" b="0">
                <a:solidFill>
                  <a:srgbClr val="D1E880"/>
                </a:solidFill>
                <a:latin typeface="Bitstream Charter"/>
                <a:ea typeface="Bitstream Charter"/>
                <a:cs typeface="Bitstream Charter"/>
              </a:rPr>
              <a:t>What the fieldwork revealed</a:t>
            </a:r>
          </a:p>
          <a:p xmlns:a="http://schemas.openxmlformats.org/drawingml/2006/main">
            <a:pPr>
              <a:buNone/>
              <a:defRPr sz="2625" b="0">
                <a:solidFill>
                  <a:srgbClr val="D1E880"/>
                </a:solidFill>
                <a:latin typeface="Bitstream Charter"/>
                <a:ea typeface="Bitstream Charter"/>
                <a:cs typeface="Bitstream Charter"/>
              </a:defRPr>
            </a:pPr>
            <a:r>
              <a:rPr sz="2625" b="0">
                <a:solidFill>
                  <a:srgbClr val="D1E880"/>
                </a:solidFill>
                <a:latin typeface="Bitstream Charter"/>
                <a:ea typeface="Bitstream Charter"/>
                <a:cs typeface="Bitstream Charter"/>
              </a:rPr>
              <a:t>and what to test next</a:t>
            </a:r>
          </a:p>
        </p:txBody>
      </p:sp>
    </p:spTree>
    <p:extLst>
      <p:ext uri="{BB962C8B-B14F-4D97-AF65-F5344CB8AC3E}">
        <p14:creationId xmlns:p14="http://schemas.microsoft.com/office/powerpoint/2010/main" val="776642085"/>
      </p:ext>
    </p:extLst>
  </p:cSld>
</p:sld>
</file>

<file path=ppt/slides/slide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C7168D6-9BEB-4E92-8001-93F7F509CE07}"/>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2F7660"/>
                </a:solidFill>
                <a:latin typeface="Bitstream Charter"/>
                <a:ea typeface="Bitstream Charter"/>
                <a:cs typeface="Bitstream Charter"/>
              </a:defRPr>
            </a:pPr>
            <a:r>
              <a:rPr sz="1275" b="1">
                <a:solidFill>
                  <a:srgbClr val="2F7660"/>
                </a:solidFill>
                <a:latin typeface="Bitstream Charter"/>
                <a:ea typeface="Bitstream Charter"/>
                <a:cs typeface="Bitstream Charter"/>
              </a:rPr>
              <a:t>01  /  THE INVESTIGATION</a:t>
            </a:r>
          </a:p>
        </p:txBody>
      </p:sp>
      <p:sp>
        <p:nvSpPr>
          <p:cNvPr id="2" name="">
            <a:extLst xmlns:a="http://schemas.openxmlformats.org/drawingml/2006/main">
              <a:ext uri="{FF2B5EF4-FFF2-40B4-BE49-F238E27FC236}">
                <a16:creationId xmlns:a16="http://schemas.microsoft.com/office/drawing/2014/main" id="{B6C3FE25-435C-4CBA-8254-257F404EB764}"/>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163C33"/>
                </a:solidFill>
                <a:latin typeface="Bitstream Charter"/>
                <a:ea typeface="Bitstream Charter"/>
                <a:cs typeface="Bitstream Charter"/>
              </a:defRPr>
            </a:pPr>
            <a:r>
              <a:rPr sz="3525" b="1">
                <a:solidFill>
                  <a:srgbClr val="163C33"/>
                </a:solidFill>
                <a:latin typeface="Bitstream Charter"/>
                <a:ea typeface="Bitstream Charter"/>
                <a:cs typeface="Bitstream Charter"/>
              </a:rPr>
              <a:t>The questions changed after each visit</a:t>
            </a:r>
          </a:p>
        </p:txBody>
      </p:sp>
      <p:sp>
        <p:nvSpPr>
          <p:cNvPr id="3" name="">
            <a:extLst xmlns:a="http://schemas.openxmlformats.org/drawingml/2006/main">
              <a:ext uri="{FF2B5EF4-FFF2-40B4-BE49-F238E27FC236}">
                <a16:creationId xmlns:a16="http://schemas.microsoft.com/office/drawing/2014/main" id="{8709CC6C-388B-4E3B-B6CF-10FBE1ECB390}"/>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607169"/>
                </a:solidFill>
                <a:latin typeface="Bitstream Charter"/>
                <a:ea typeface="Bitstream Charter"/>
                <a:cs typeface="Bitstream Charter"/>
              </a:defRPr>
            </a:pPr>
            <a:r>
              <a:rPr sz="1050" b="0">
                <a:solidFill>
                  <a:srgbClr val="607169"/>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6E5F3BA6-6F1E-49A1-BE8D-23CB03565F29}"/>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2F7660"/>
                </a:solidFill>
                <a:latin typeface="Bitstream Charter"/>
                <a:ea typeface="Bitstream Charter"/>
                <a:cs typeface="Bitstream Charter"/>
              </a:defRPr>
            </a:pPr>
            <a:r>
              <a:rPr sz="1500" b="1">
                <a:solidFill>
                  <a:srgbClr val="2F7660"/>
                </a:solidFill>
                <a:latin typeface="Bitstream Charter"/>
                <a:ea typeface="Bitstream Charter"/>
                <a:cs typeface="Bitstream Charter"/>
              </a:rPr>
              <a:t>02</a:t>
            </a:r>
          </a:p>
        </p:txBody>
      </p:sp>
      <p:sp>
        <p:nvSpPr>
          <p:cNvPr id="5" name="">
            <a:extLst xmlns:a="http://schemas.openxmlformats.org/drawingml/2006/main">
              <a:ext uri="{FF2B5EF4-FFF2-40B4-BE49-F238E27FC236}">
                <a16:creationId xmlns:a16="http://schemas.microsoft.com/office/drawing/2014/main" id="{5E39F4C6-7FBB-406B-97E7-0B4EB3048288}"/>
              </a:ext>
            </a:extLst>
          </p:cNvPr>
          <p:cNvSpPr>
            <a:spLocks xmlns:a="http://schemas.openxmlformats.org/drawingml/2006/main" noGrp="1"/>
          </p:cNvSpPr>
          <p:nvPr/>
        </p:nvSpPr>
        <p:spPr>
          <a:xfrm xmlns:a="http://schemas.openxmlformats.org/drawingml/2006/main">
            <a:off x="609600" y="2209800"/>
            <a:ext cx="647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2F7660"/>
                </a:solidFill>
                <a:latin typeface="Bitstream Charter"/>
                <a:ea typeface="Bitstream Charter"/>
                <a:cs typeface="Bitstream Charter"/>
              </a:defRPr>
            </a:pPr>
            <a:r>
              <a:rPr sz="2925" b="1">
                <a:solidFill>
                  <a:srgbClr val="2F7660"/>
                </a:solidFill>
                <a:latin typeface="Bitstream Charter"/>
                <a:ea typeface="Bitstream Charter"/>
                <a:cs typeface="Bitstream Charter"/>
              </a:rPr>
              <a:t>01</a:t>
            </a:r>
          </a:p>
        </p:txBody>
      </p:sp>
      <p:sp>
        <p:nvSpPr>
          <p:cNvPr id="6" name="">
            <a:extLst xmlns:a="http://schemas.openxmlformats.org/drawingml/2006/main">
              <a:ext uri="{FF2B5EF4-FFF2-40B4-BE49-F238E27FC236}">
                <a16:creationId xmlns:a16="http://schemas.microsoft.com/office/drawing/2014/main" id="{7C5292AF-9DEF-40A6-9297-8F11E21F2005}"/>
              </a:ext>
            </a:extLst>
          </p:cNvPr>
          <p:cNvSpPr>
            <a:spLocks xmlns:a="http://schemas.openxmlformats.org/drawingml/2006/main" noGrp="1"/>
          </p:cNvSpPr>
          <p:nvPr/>
        </p:nvSpPr>
        <p:spPr>
          <a:xfrm xmlns:a="http://schemas.openxmlformats.org/drawingml/2006/main">
            <a:off x="1562100" y="22098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3C33"/>
                </a:solidFill>
                <a:latin typeface="Bitstream Charter"/>
                <a:ea typeface="Bitstream Charter"/>
                <a:cs typeface="Bitstream Charter"/>
              </a:defRPr>
            </a:pPr>
            <a:r>
              <a:rPr sz="2175" b="1">
                <a:solidFill>
                  <a:srgbClr val="163C33"/>
                </a:solidFill>
                <a:latin typeface="Bitstream Charter"/>
                <a:ea typeface="Bitstream Charter"/>
                <a:cs typeface="Bitstream Charter"/>
              </a:rPr>
              <a:t>Before Field 1</a:t>
            </a:r>
          </a:p>
        </p:txBody>
      </p:sp>
      <p:sp>
        <p:nvSpPr>
          <p:cNvPr id="7" name="">
            <a:extLst xmlns:a="http://schemas.openxmlformats.org/drawingml/2006/main">
              <a:ext uri="{FF2B5EF4-FFF2-40B4-BE49-F238E27FC236}">
                <a16:creationId xmlns:a16="http://schemas.microsoft.com/office/drawing/2014/main" id="{D2BCCA81-5E68-48EE-841B-79B46E02140C}"/>
              </a:ext>
            </a:extLst>
          </p:cNvPr>
          <p:cNvSpPr>
            <a:spLocks xmlns:a="http://schemas.openxmlformats.org/drawingml/2006/main" noGrp="1"/>
          </p:cNvSpPr>
          <p:nvPr/>
        </p:nvSpPr>
        <p:spPr>
          <a:xfrm xmlns:a="http://schemas.openxmlformats.org/drawingml/2006/main">
            <a:off x="4400550" y="2219325"/>
            <a:ext cx="700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63C33"/>
                </a:solidFill>
                <a:latin typeface="Bitstream Charter"/>
                <a:ea typeface="Bitstream Charter"/>
                <a:cs typeface="Bitstream Charter"/>
              </a:defRPr>
            </a:pPr>
            <a:r>
              <a:rPr sz="2025" b="0">
                <a:solidFill>
                  <a:srgbClr val="163C33"/>
                </a:solidFill>
                <a:latin typeface="Bitstream Charter"/>
                <a:ea typeface="Bitstream Charter"/>
                <a:cs typeface="Bitstream Charter"/>
              </a:rPr>
              <a:t>Unclear schedules and collection-site locations</a:t>
            </a:r>
          </a:p>
        </p:txBody>
      </p:sp>
      <p:sp>
        <p:nvSpPr>
          <p:cNvPr id="8" name="">
            <a:extLst xmlns:a="http://schemas.openxmlformats.org/drawingml/2006/main">
              <a:ext uri="{FF2B5EF4-FFF2-40B4-BE49-F238E27FC236}">
                <a16:creationId xmlns:a16="http://schemas.microsoft.com/office/drawing/2014/main" id="{8686872F-37E4-4349-9670-36B5BA10A7D9}"/>
              </a:ext>
            </a:extLst>
          </p:cNvPr>
          <p:cNvSpPr>
            <a:spLocks xmlns:a="http://schemas.openxmlformats.org/drawingml/2006/main" noGrp="1"/>
          </p:cNvSpPr>
          <p:nvPr/>
        </p:nvSpPr>
        <p:spPr>
          <a:xfrm xmlns:a="http://schemas.openxmlformats.org/drawingml/2006/main">
            <a:off x="609600" y="3086100"/>
            <a:ext cx="647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2F7660"/>
                </a:solidFill>
                <a:latin typeface="Bitstream Charter"/>
                <a:ea typeface="Bitstream Charter"/>
                <a:cs typeface="Bitstream Charter"/>
              </a:defRPr>
            </a:pPr>
            <a:r>
              <a:rPr sz="2925" b="1">
                <a:solidFill>
                  <a:srgbClr val="2F7660"/>
                </a:solidFill>
                <a:latin typeface="Bitstream Charter"/>
                <a:ea typeface="Bitstream Charter"/>
                <a:cs typeface="Bitstream Charter"/>
              </a:rPr>
              <a:t>02</a:t>
            </a:r>
          </a:p>
        </p:txBody>
      </p:sp>
      <p:sp>
        <p:nvSpPr>
          <p:cNvPr id="9" name="">
            <a:extLst xmlns:a="http://schemas.openxmlformats.org/drawingml/2006/main">
              <a:ext uri="{FF2B5EF4-FFF2-40B4-BE49-F238E27FC236}">
                <a16:creationId xmlns:a16="http://schemas.microsoft.com/office/drawing/2014/main" id="{2EC247E6-E71D-4E21-BD5F-6BA40031C948}"/>
              </a:ext>
            </a:extLst>
          </p:cNvPr>
          <p:cNvSpPr>
            <a:spLocks xmlns:a="http://schemas.openxmlformats.org/drawingml/2006/main" noGrp="1"/>
          </p:cNvSpPr>
          <p:nvPr/>
        </p:nvSpPr>
        <p:spPr>
          <a:xfrm xmlns:a="http://schemas.openxmlformats.org/drawingml/2006/main">
            <a:off x="1562100" y="30861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3C33"/>
                </a:solidFill>
                <a:latin typeface="Bitstream Charter"/>
                <a:ea typeface="Bitstream Charter"/>
                <a:cs typeface="Bitstream Charter"/>
              </a:defRPr>
            </a:pPr>
            <a:r>
              <a:rPr sz="2175" b="1">
                <a:solidFill>
                  <a:srgbClr val="163C33"/>
                </a:solidFill>
                <a:latin typeface="Bitstream Charter"/>
                <a:ea typeface="Bitstream Charter"/>
                <a:cs typeface="Bitstream Charter"/>
              </a:rPr>
              <a:t>Field 1</a:t>
            </a:r>
          </a:p>
        </p:txBody>
      </p:sp>
      <p:sp>
        <p:nvSpPr>
          <p:cNvPr id="10" name="">
            <a:extLst xmlns:a="http://schemas.openxmlformats.org/drawingml/2006/main">
              <a:ext uri="{FF2B5EF4-FFF2-40B4-BE49-F238E27FC236}">
                <a16:creationId xmlns:a16="http://schemas.microsoft.com/office/drawing/2014/main" id="{8DBE5A11-9BA9-4CFD-89E3-4084504C388B}"/>
              </a:ext>
            </a:extLst>
          </p:cNvPr>
          <p:cNvSpPr>
            <a:spLocks xmlns:a="http://schemas.openxmlformats.org/drawingml/2006/main" noGrp="1"/>
          </p:cNvSpPr>
          <p:nvPr/>
        </p:nvSpPr>
        <p:spPr>
          <a:xfrm xmlns:a="http://schemas.openxmlformats.org/drawingml/2006/main">
            <a:off x="4400550" y="3095625"/>
            <a:ext cx="700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63C33"/>
                </a:solidFill>
                <a:latin typeface="Bitstream Charter"/>
                <a:ea typeface="Bitstream Charter"/>
                <a:cs typeface="Bitstream Charter"/>
              </a:defRPr>
            </a:pPr>
            <a:r>
              <a:rPr sz="2025" b="0">
                <a:solidFill>
                  <a:srgbClr val="163C33"/>
                </a:solidFill>
                <a:latin typeface="Bitstream Charter"/>
                <a:ea typeface="Bitstream Charter"/>
                <a:cs typeface="Bitstream Charter"/>
              </a:rPr>
              <a:t>Current schedule, fleet and movements clarified</a:t>
            </a:r>
          </a:p>
        </p:txBody>
      </p:sp>
      <p:sp>
        <p:nvSpPr>
          <p:cNvPr id="11" name="">
            <a:extLst xmlns:a="http://schemas.openxmlformats.org/drawingml/2006/main">
              <a:ext uri="{FF2B5EF4-FFF2-40B4-BE49-F238E27FC236}">
                <a16:creationId xmlns:a16="http://schemas.microsoft.com/office/drawing/2014/main" id="{9F3A031D-55C1-423A-AC92-4373F730E654}"/>
              </a:ext>
            </a:extLst>
          </p:cNvPr>
          <p:cNvSpPr>
            <a:spLocks xmlns:a="http://schemas.openxmlformats.org/drawingml/2006/main" noGrp="1"/>
          </p:cNvSpPr>
          <p:nvPr/>
        </p:nvSpPr>
        <p:spPr>
          <a:xfrm xmlns:a="http://schemas.openxmlformats.org/drawingml/2006/main">
            <a:off x="609600" y="3962400"/>
            <a:ext cx="647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2F7660"/>
                </a:solidFill>
                <a:latin typeface="Bitstream Charter"/>
                <a:ea typeface="Bitstream Charter"/>
                <a:cs typeface="Bitstream Charter"/>
              </a:defRPr>
            </a:pPr>
            <a:r>
              <a:rPr sz="2925" b="1">
                <a:solidFill>
                  <a:srgbClr val="2F7660"/>
                </a:solidFill>
                <a:latin typeface="Bitstream Charter"/>
                <a:ea typeface="Bitstream Charter"/>
                <a:cs typeface="Bitstream Charter"/>
              </a:rPr>
              <a:t>03</a:t>
            </a:r>
          </a:p>
        </p:txBody>
      </p:sp>
      <p:sp>
        <p:nvSpPr>
          <p:cNvPr id="12" name="">
            <a:extLst xmlns:a="http://schemas.openxmlformats.org/drawingml/2006/main">
              <a:ext uri="{FF2B5EF4-FFF2-40B4-BE49-F238E27FC236}">
                <a16:creationId xmlns:a16="http://schemas.microsoft.com/office/drawing/2014/main" id="{2202AD28-5301-40FD-831A-EEE86DA3BDD9}"/>
              </a:ext>
            </a:extLst>
          </p:cNvPr>
          <p:cNvSpPr>
            <a:spLocks xmlns:a="http://schemas.openxmlformats.org/drawingml/2006/main" noGrp="1"/>
          </p:cNvSpPr>
          <p:nvPr/>
        </p:nvSpPr>
        <p:spPr>
          <a:xfrm xmlns:a="http://schemas.openxmlformats.org/drawingml/2006/main">
            <a:off x="1562100" y="39624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3C33"/>
                </a:solidFill>
                <a:latin typeface="Bitstream Charter"/>
                <a:ea typeface="Bitstream Charter"/>
                <a:cs typeface="Bitstream Charter"/>
              </a:defRPr>
            </a:pPr>
            <a:r>
              <a:rPr sz="2175" b="1">
                <a:solidFill>
                  <a:srgbClr val="163C33"/>
                </a:solidFill>
                <a:latin typeface="Bitstream Charter"/>
                <a:ea typeface="Bitstream Charter"/>
                <a:cs typeface="Bitstream Charter"/>
              </a:rPr>
              <a:t>Review meeting</a:t>
            </a:r>
          </a:p>
        </p:txBody>
      </p:sp>
      <p:sp>
        <p:nvSpPr>
          <p:cNvPr id="13" name="">
            <a:extLst xmlns:a="http://schemas.openxmlformats.org/drawingml/2006/main">
              <a:ext uri="{FF2B5EF4-FFF2-40B4-BE49-F238E27FC236}">
                <a16:creationId xmlns:a16="http://schemas.microsoft.com/office/drawing/2014/main" id="{9E19FF7D-D361-453E-8AE8-EF9B77344B1D}"/>
              </a:ext>
            </a:extLst>
          </p:cNvPr>
          <p:cNvSpPr>
            <a:spLocks xmlns:a="http://schemas.openxmlformats.org/drawingml/2006/main" noGrp="1"/>
          </p:cNvSpPr>
          <p:nvPr/>
        </p:nvSpPr>
        <p:spPr>
          <a:xfrm xmlns:a="http://schemas.openxmlformats.org/drawingml/2006/main">
            <a:off x="4400550" y="3971925"/>
            <a:ext cx="700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63C33"/>
                </a:solidFill>
                <a:latin typeface="Bitstream Charter"/>
                <a:ea typeface="Bitstream Charter"/>
                <a:cs typeface="Bitstream Charter"/>
              </a:defRPr>
            </a:pPr>
            <a:r>
              <a:rPr sz="2025" b="0">
                <a:solidFill>
                  <a:srgbClr val="163C33"/>
                </a:solidFill>
                <a:latin typeface="Bitstream Charter"/>
                <a:ea typeface="Bitstream Charter"/>
                <a:cs typeface="Bitstream Charter"/>
              </a:rPr>
              <a:t>Why do collections take so long? Why no second shift?</a:t>
            </a:r>
          </a:p>
        </p:txBody>
      </p:sp>
      <p:sp>
        <p:nvSpPr>
          <p:cNvPr id="14" name="">
            <a:extLst xmlns:a="http://schemas.openxmlformats.org/drawingml/2006/main">
              <a:ext uri="{FF2B5EF4-FFF2-40B4-BE49-F238E27FC236}">
                <a16:creationId xmlns:a16="http://schemas.microsoft.com/office/drawing/2014/main" id="{A0360E0B-7420-469C-8A5B-A902C80032F6}"/>
              </a:ext>
            </a:extLst>
          </p:cNvPr>
          <p:cNvSpPr>
            <a:spLocks xmlns:a="http://schemas.openxmlformats.org/drawingml/2006/main" noGrp="1"/>
          </p:cNvSpPr>
          <p:nvPr/>
        </p:nvSpPr>
        <p:spPr>
          <a:xfrm xmlns:a="http://schemas.openxmlformats.org/drawingml/2006/main">
            <a:off x="609600" y="4838700"/>
            <a:ext cx="647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2F7660"/>
                </a:solidFill>
                <a:latin typeface="Bitstream Charter"/>
                <a:ea typeface="Bitstream Charter"/>
                <a:cs typeface="Bitstream Charter"/>
              </a:defRPr>
            </a:pPr>
            <a:r>
              <a:rPr sz="2925" b="1">
                <a:solidFill>
                  <a:srgbClr val="2F7660"/>
                </a:solidFill>
                <a:latin typeface="Bitstream Charter"/>
                <a:ea typeface="Bitstream Charter"/>
                <a:cs typeface="Bitstream Charter"/>
              </a:rPr>
              <a:t>04</a:t>
            </a:r>
          </a:p>
        </p:txBody>
      </p:sp>
      <p:sp>
        <p:nvSpPr>
          <p:cNvPr id="15" name="">
            <a:extLst xmlns:a="http://schemas.openxmlformats.org/drawingml/2006/main">
              <a:ext uri="{FF2B5EF4-FFF2-40B4-BE49-F238E27FC236}">
                <a16:creationId xmlns:a16="http://schemas.microsoft.com/office/drawing/2014/main" id="{9890F765-B983-42ED-A037-493F69791752}"/>
              </a:ext>
            </a:extLst>
          </p:cNvPr>
          <p:cNvSpPr>
            <a:spLocks xmlns:a="http://schemas.openxmlformats.org/drawingml/2006/main" noGrp="1"/>
          </p:cNvSpPr>
          <p:nvPr/>
        </p:nvSpPr>
        <p:spPr>
          <a:xfrm xmlns:a="http://schemas.openxmlformats.org/drawingml/2006/main">
            <a:off x="1562100" y="48387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3C33"/>
                </a:solidFill>
                <a:latin typeface="Bitstream Charter"/>
                <a:ea typeface="Bitstream Charter"/>
                <a:cs typeface="Bitstream Charter"/>
              </a:defRPr>
            </a:pPr>
            <a:r>
              <a:rPr sz="2175" b="1">
                <a:solidFill>
                  <a:srgbClr val="163C33"/>
                </a:solidFill>
                <a:latin typeface="Bitstream Charter"/>
                <a:ea typeface="Bitstream Charter"/>
                <a:cs typeface="Bitstream Charter"/>
              </a:rPr>
              <a:t>Field 2</a:t>
            </a:r>
          </a:p>
        </p:txBody>
      </p:sp>
      <p:sp>
        <p:nvSpPr>
          <p:cNvPr id="16" name="">
            <a:extLst xmlns:a="http://schemas.openxmlformats.org/drawingml/2006/main">
              <a:ext uri="{FF2B5EF4-FFF2-40B4-BE49-F238E27FC236}">
                <a16:creationId xmlns:a16="http://schemas.microsoft.com/office/drawing/2014/main" id="{75081B18-BBBD-4F90-9BAA-AE22392260F6}"/>
              </a:ext>
            </a:extLst>
          </p:cNvPr>
          <p:cNvSpPr>
            <a:spLocks xmlns:a="http://schemas.openxmlformats.org/drawingml/2006/main" noGrp="1"/>
          </p:cNvSpPr>
          <p:nvPr/>
        </p:nvSpPr>
        <p:spPr>
          <a:xfrm xmlns:a="http://schemas.openxmlformats.org/drawingml/2006/main">
            <a:off x="4400550" y="4848225"/>
            <a:ext cx="700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63C33"/>
                </a:solidFill>
                <a:latin typeface="Bitstream Charter"/>
                <a:ea typeface="Bitstream Charter"/>
                <a:cs typeface="Bitstream Charter"/>
              </a:defRPr>
            </a:pPr>
            <a:r>
              <a:rPr sz="2025" b="0">
                <a:solidFill>
                  <a:srgbClr val="163C33"/>
                </a:solidFill>
                <a:latin typeface="Bitstream Charter"/>
                <a:ea typeface="Bitstream Charter"/>
                <a:cs typeface="Bitstream Charter"/>
              </a:rPr>
              <a:t>12 of 27 drivers interviewed to explain daily operations</a:t>
            </a:r>
          </a:p>
        </p:txBody>
      </p:sp>
    </p:spTree>
    <p:extLst>
      <p:ext uri="{BB962C8B-B14F-4D97-AF65-F5344CB8AC3E}">
        <p14:creationId xmlns:p14="http://schemas.microsoft.com/office/powerpoint/2010/main" val="258967019"/>
      </p:ext>
    </p:extLst>
  </p:cSld>
</p:sld>
</file>

<file path=ppt/slides/slide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2AB630B-E0F5-4004-BFF7-CD1B41B2B4A5}"/>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2F7660"/>
                </a:solidFill>
                <a:latin typeface="Bitstream Charter"/>
                <a:ea typeface="Bitstream Charter"/>
                <a:cs typeface="Bitstream Charter"/>
              </a:defRPr>
            </a:pPr>
            <a:r>
              <a:rPr sz="1275" b="1">
                <a:solidFill>
                  <a:srgbClr val="2F7660"/>
                </a:solidFill>
                <a:latin typeface="Bitstream Charter"/>
                <a:ea typeface="Bitstream Charter"/>
                <a:cs typeface="Bitstream Charter"/>
              </a:rPr>
              <a:t>02  /  FIELD 1 BASELINE</a:t>
            </a:r>
          </a:p>
        </p:txBody>
      </p:sp>
      <p:sp>
        <p:nvSpPr>
          <p:cNvPr id="2" name="">
            <a:extLst xmlns:a="http://schemas.openxmlformats.org/drawingml/2006/main">
              <a:ext uri="{FF2B5EF4-FFF2-40B4-BE49-F238E27FC236}">
                <a16:creationId xmlns:a16="http://schemas.microsoft.com/office/drawing/2014/main" id="{34368077-998C-4F37-8561-E425E78E8B2C}"/>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163C33"/>
                </a:solidFill>
                <a:latin typeface="Bitstream Charter"/>
                <a:ea typeface="Bitstream Charter"/>
                <a:cs typeface="Bitstream Charter"/>
              </a:defRPr>
            </a:pPr>
            <a:r>
              <a:rPr sz="3525" b="1">
                <a:solidFill>
                  <a:srgbClr val="163C33"/>
                </a:solidFill>
                <a:latin typeface="Bitstream Charter"/>
                <a:ea typeface="Bitstream Charter"/>
                <a:cs typeface="Bitstream Charter"/>
              </a:rPr>
              <a:t>The fleet has very little driver relief</a:t>
            </a:r>
          </a:p>
        </p:txBody>
      </p:sp>
      <p:sp>
        <p:nvSpPr>
          <p:cNvPr id="3" name="">
            <a:extLst xmlns:a="http://schemas.openxmlformats.org/drawingml/2006/main">
              <a:ext uri="{FF2B5EF4-FFF2-40B4-BE49-F238E27FC236}">
                <a16:creationId xmlns:a16="http://schemas.microsoft.com/office/drawing/2014/main" id="{EAB482C9-8E59-47A3-A994-B04F4E11023F}"/>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607169"/>
                </a:solidFill>
                <a:latin typeface="Bitstream Charter"/>
                <a:ea typeface="Bitstream Charter"/>
                <a:cs typeface="Bitstream Charter"/>
              </a:defRPr>
            </a:pPr>
            <a:r>
              <a:rPr sz="1050" b="0">
                <a:solidFill>
                  <a:srgbClr val="607169"/>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F7BB831D-CED2-49A5-BD79-0BA65F72ACD4}"/>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2F7660"/>
                </a:solidFill>
                <a:latin typeface="Bitstream Charter"/>
                <a:ea typeface="Bitstream Charter"/>
                <a:cs typeface="Bitstream Charter"/>
              </a:defRPr>
            </a:pPr>
            <a:r>
              <a:rPr sz="1500" b="1">
                <a:solidFill>
                  <a:srgbClr val="2F7660"/>
                </a:solidFill>
                <a:latin typeface="Bitstream Charter"/>
                <a:ea typeface="Bitstream Charter"/>
                <a:cs typeface="Bitstream Charter"/>
              </a:rPr>
              <a:t>03</a:t>
            </a:r>
          </a:p>
        </p:txBody>
      </p:sp>
      <p:sp>
        <p:nvSpPr>
          <p:cNvPr id="5" name="">
            <a:extLst xmlns:a="http://schemas.openxmlformats.org/drawingml/2006/main">
              <a:ext uri="{FF2B5EF4-FFF2-40B4-BE49-F238E27FC236}">
                <a16:creationId xmlns:a16="http://schemas.microsoft.com/office/drawing/2014/main" id="{87737D6F-5B83-40B1-94B0-36AFBD80FD2C}"/>
              </a:ext>
            </a:extLst>
          </p:cNvPr>
          <p:cNvSpPr>
            <a:spLocks xmlns:a="http://schemas.openxmlformats.org/drawingml/2006/main" noGrp="1"/>
          </p:cNvSpPr>
          <p:nvPr/>
        </p:nvSpPr>
        <p:spPr>
          <a:xfrm xmlns:a="http://schemas.openxmlformats.org/drawingml/2006/main">
            <a:off x="609600" y="2133600"/>
            <a:ext cx="335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700" b="1">
                <a:solidFill>
                  <a:srgbClr val="163C33"/>
                </a:solidFill>
                <a:latin typeface="Bitstream Charter"/>
                <a:ea typeface="Bitstream Charter"/>
                <a:cs typeface="Bitstream Charter"/>
              </a:defRPr>
            </a:pPr>
            <a:r>
              <a:rPr sz="8700" b="1">
                <a:solidFill>
                  <a:srgbClr val="163C33"/>
                </a:solidFill>
                <a:latin typeface="Bitstream Charter"/>
                <a:ea typeface="Bitstream Charter"/>
                <a:cs typeface="Bitstream Charter"/>
              </a:rPr>
              <a:t>25</a:t>
            </a:r>
          </a:p>
        </p:txBody>
      </p:sp>
      <p:sp>
        <p:nvSpPr>
          <p:cNvPr id="6" name="">
            <a:extLst xmlns:a="http://schemas.openxmlformats.org/drawingml/2006/main">
              <a:ext uri="{FF2B5EF4-FFF2-40B4-BE49-F238E27FC236}">
                <a16:creationId xmlns:a16="http://schemas.microsoft.com/office/drawing/2014/main" id="{FF53F219-E472-4025-997D-1FC2B53F7F41}"/>
              </a:ext>
            </a:extLst>
          </p:cNvPr>
          <p:cNvSpPr>
            <a:spLocks xmlns:a="http://schemas.openxmlformats.org/drawingml/2006/main" noGrp="1"/>
          </p:cNvSpPr>
          <p:nvPr/>
        </p:nvSpPr>
        <p:spPr>
          <a:xfrm xmlns:a="http://schemas.openxmlformats.org/drawingml/2006/main">
            <a:off x="666750" y="37242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C33"/>
                </a:solidFill>
                <a:latin typeface="Bitstream Charter"/>
                <a:ea typeface="Bitstream Charter"/>
                <a:cs typeface="Bitstream Charter"/>
              </a:defRPr>
            </a:pPr>
            <a:r>
              <a:rPr sz="2175" b="0">
                <a:solidFill>
                  <a:srgbClr val="163C33"/>
                </a:solidFill>
                <a:latin typeface="Bitstream Charter"/>
                <a:ea typeface="Bitstream Charter"/>
                <a:cs typeface="Bitstream Charter"/>
              </a:rPr>
              <a:t>collection trucks</a:t>
            </a:r>
          </a:p>
        </p:txBody>
      </p:sp>
      <p:sp>
        <p:nvSpPr>
          <p:cNvPr id="7" name="">
            <a:extLst xmlns:a="http://schemas.openxmlformats.org/drawingml/2006/main">
              <a:ext uri="{FF2B5EF4-FFF2-40B4-BE49-F238E27FC236}">
                <a16:creationId xmlns:a16="http://schemas.microsoft.com/office/drawing/2014/main" id="{66655246-3A14-4209-B98A-5CB20AE3D6DB}"/>
              </a:ext>
            </a:extLst>
          </p:cNvPr>
          <p:cNvSpPr>
            <a:spLocks xmlns:a="http://schemas.openxmlformats.org/drawingml/2006/main" noGrp="1"/>
          </p:cNvSpPr>
          <p:nvPr/>
        </p:nvSpPr>
        <p:spPr>
          <a:xfrm xmlns:a="http://schemas.openxmlformats.org/drawingml/2006/main">
            <a:off x="4352925" y="2133600"/>
            <a:ext cx="335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700" b="1">
                <a:solidFill>
                  <a:srgbClr val="163C33"/>
                </a:solidFill>
                <a:latin typeface="Bitstream Charter"/>
                <a:ea typeface="Bitstream Charter"/>
                <a:cs typeface="Bitstream Charter"/>
              </a:defRPr>
            </a:pPr>
            <a:r>
              <a:rPr sz="8700" b="1">
                <a:solidFill>
                  <a:srgbClr val="163C33"/>
                </a:solidFill>
                <a:latin typeface="Bitstream Charter"/>
                <a:ea typeface="Bitstream Charter"/>
                <a:cs typeface="Bitstream Charter"/>
              </a:rPr>
              <a:t>27</a:t>
            </a:r>
          </a:p>
        </p:txBody>
      </p:sp>
      <p:sp>
        <p:nvSpPr>
          <p:cNvPr id="8" name="">
            <a:extLst xmlns:a="http://schemas.openxmlformats.org/drawingml/2006/main">
              <a:ext uri="{FF2B5EF4-FFF2-40B4-BE49-F238E27FC236}">
                <a16:creationId xmlns:a16="http://schemas.microsoft.com/office/drawing/2014/main" id="{166DDE6E-32F7-4CA1-9EAF-9E940CB43437}"/>
              </a:ext>
            </a:extLst>
          </p:cNvPr>
          <p:cNvSpPr>
            <a:spLocks xmlns:a="http://schemas.openxmlformats.org/drawingml/2006/main" noGrp="1"/>
          </p:cNvSpPr>
          <p:nvPr/>
        </p:nvSpPr>
        <p:spPr>
          <a:xfrm xmlns:a="http://schemas.openxmlformats.org/drawingml/2006/main">
            <a:off x="4410075" y="37242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C33"/>
                </a:solidFill>
                <a:latin typeface="Bitstream Charter"/>
                <a:ea typeface="Bitstream Charter"/>
                <a:cs typeface="Bitstream Charter"/>
              </a:defRPr>
            </a:pPr>
            <a:r>
              <a:rPr sz="2175" b="0">
                <a:solidFill>
                  <a:srgbClr val="163C33"/>
                </a:solidFill>
                <a:latin typeface="Bitstream Charter"/>
                <a:ea typeface="Bitstream Charter"/>
                <a:cs typeface="Bitstream Charter"/>
              </a:rPr>
              <a:t>drivers</a:t>
            </a:r>
          </a:p>
        </p:txBody>
      </p:sp>
      <p:sp>
        <p:nvSpPr>
          <p:cNvPr id="9" name="">
            <a:extLst xmlns:a="http://schemas.openxmlformats.org/drawingml/2006/main">
              <a:ext uri="{FF2B5EF4-FFF2-40B4-BE49-F238E27FC236}">
                <a16:creationId xmlns:a16="http://schemas.microsoft.com/office/drawing/2014/main" id="{51A9966F-A4E1-4705-8C71-309291195C6D}"/>
              </a:ext>
            </a:extLst>
          </p:cNvPr>
          <p:cNvSpPr>
            <a:spLocks xmlns:a="http://schemas.openxmlformats.org/drawingml/2006/main" noGrp="1"/>
          </p:cNvSpPr>
          <p:nvPr/>
        </p:nvSpPr>
        <p:spPr>
          <a:xfrm xmlns:a="http://schemas.openxmlformats.org/drawingml/2006/main">
            <a:off x="8096250" y="2133600"/>
            <a:ext cx="335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700" b="1">
                <a:solidFill>
                  <a:srgbClr val="C26A35"/>
                </a:solidFill>
                <a:latin typeface="Bitstream Charter"/>
                <a:ea typeface="Bitstream Charter"/>
                <a:cs typeface="Bitstream Charter"/>
              </a:defRPr>
            </a:pPr>
            <a:r>
              <a:rPr sz="8700" b="1">
                <a:solidFill>
                  <a:srgbClr val="C26A35"/>
                </a:solidFill>
                <a:latin typeface="Bitstream Charter"/>
                <a:ea typeface="Bitstream Charter"/>
                <a:cs typeface="Bitstream Charter"/>
              </a:rPr>
              <a:t>2</a:t>
            </a:r>
          </a:p>
        </p:txBody>
      </p:sp>
      <p:sp>
        <p:nvSpPr>
          <p:cNvPr id="10" name="">
            <a:extLst xmlns:a="http://schemas.openxmlformats.org/drawingml/2006/main">
              <a:ext uri="{FF2B5EF4-FFF2-40B4-BE49-F238E27FC236}">
                <a16:creationId xmlns:a16="http://schemas.microsoft.com/office/drawing/2014/main" id="{BA1D63DC-401E-4C72-8F9C-9E1C154404FD}"/>
              </a:ext>
            </a:extLst>
          </p:cNvPr>
          <p:cNvSpPr>
            <a:spLocks xmlns:a="http://schemas.openxmlformats.org/drawingml/2006/main" noGrp="1"/>
          </p:cNvSpPr>
          <p:nvPr/>
        </p:nvSpPr>
        <p:spPr>
          <a:xfrm xmlns:a="http://schemas.openxmlformats.org/drawingml/2006/main">
            <a:off x="8153400" y="37242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C33"/>
                </a:solidFill>
                <a:latin typeface="Bitstream Charter"/>
                <a:ea typeface="Bitstream Charter"/>
                <a:cs typeface="Bitstream Charter"/>
              </a:defRPr>
            </a:pPr>
            <a:r>
              <a:rPr sz="2175" b="0">
                <a:solidFill>
                  <a:srgbClr val="163C33"/>
                </a:solidFill>
                <a:latin typeface="Bitstream Charter"/>
                <a:ea typeface="Bitstream Charter"/>
                <a:cs typeface="Bitstream Charter"/>
              </a:rPr>
              <a:t>extra drivers</a:t>
            </a:r>
          </a:p>
        </p:txBody>
      </p:sp>
      <p:sp>
        <p:nvSpPr>
          <p:cNvPr id="11" name="">
            <a:extLst xmlns:a="http://schemas.openxmlformats.org/drawingml/2006/main">
              <a:ext uri="{FF2B5EF4-FFF2-40B4-BE49-F238E27FC236}">
                <a16:creationId xmlns:a16="http://schemas.microsoft.com/office/drawing/2014/main" id="{7FB17617-D5AF-4FAB-8531-DDA996514970}"/>
              </a:ext>
            </a:extLst>
          </p:cNvPr>
          <p:cNvSpPr>
            <a:spLocks xmlns:a="http://schemas.openxmlformats.org/drawingml/2006/main" noGrp="1"/>
          </p:cNvSpPr>
          <p:nvPr/>
        </p:nvSpPr>
        <p:spPr>
          <a:xfrm xmlns:a="http://schemas.openxmlformats.org/drawingml/2006/main">
            <a:off x="609600" y="49053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2F7660"/>
                </a:solidFill>
                <a:latin typeface="Bitstream Charter"/>
                <a:ea typeface="Bitstream Charter"/>
                <a:cs typeface="Bitstream Charter"/>
              </a:defRPr>
            </a:pPr>
            <a:r>
              <a:rPr sz="2550" b="1">
                <a:solidFill>
                  <a:srgbClr val="2F7660"/>
                </a:solidFill>
                <a:latin typeface="Bitstream Charter"/>
                <a:ea typeface="Bitstream Charter"/>
                <a:cs typeface="Bitstream Charter"/>
              </a:rPr>
              <a:t>~10 of 25 trucks are over 10 years old</a:t>
            </a:r>
          </a:p>
        </p:txBody>
      </p:sp>
      <p:sp>
        <p:nvSpPr>
          <p:cNvPr id="12" name="">
            <a:extLst xmlns:a="http://schemas.openxmlformats.org/drawingml/2006/main">
              <a:ext uri="{FF2B5EF4-FFF2-40B4-BE49-F238E27FC236}">
                <a16:creationId xmlns:a16="http://schemas.microsoft.com/office/drawing/2014/main" id="{E19F63A8-DBEB-4920-A2EA-D717E13F0402}"/>
              </a:ext>
            </a:extLst>
          </p:cNvPr>
          <p:cNvSpPr>
            <a:spLocks xmlns:a="http://schemas.openxmlformats.org/drawingml/2006/main" noGrp="1"/>
          </p:cNvSpPr>
          <p:nvPr/>
        </p:nvSpPr>
        <p:spPr>
          <a:xfrm xmlns:a="http://schemas.openxmlformats.org/drawingml/2006/main">
            <a:off x="609600" y="5629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607169"/>
                </a:solidFill>
                <a:latin typeface="Bitstream Charter"/>
                <a:ea typeface="Bitstream Charter"/>
                <a:cs typeface="Bitstream Charter"/>
              </a:defRPr>
            </a:pPr>
            <a:r>
              <a:rPr sz="1875" b="0">
                <a:solidFill>
                  <a:srgbClr val="607169"/>
                </a:solidFill>
                <a:latin typeface="Bitstream Charter"/>
                <a:ea typeface="Bitstream Charter"/>
                <a:cs typeface="Bitstream Charter"/>
              </a:rPr>
              <a:t>Tuba: residual waste     /     Irisan: biodegradable food waste</a:t>
            </a:r>
          </a:p>
        </p:txBody>
      </p:sp>
    </p:spTree>
    <p:extLst>
      <p:ext uri="{BB962C8B-B14F-4D97-AF65-F5344CB8AC3E}">
        <p14:creationId xmlns:p14="http://schemas.microsoft.com/office/powerpoint/2010/main" val="1182147790"/>
      </p:ext>
    </p:extLst>
  </p:cSld>
</p:sld>
</file>

<file path=ppt/slides/slide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D2EE6F-9FA7-4625-9B0C-963887788CCE}"/>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2F7660"/>
                </a:solidFill>
                <a:latin typeface="Bitstream Charter"/>
                <a:ea typeface="Bitstream Charter"/>
                <a:cs typeface="Bitstream Charter"/>
              </a:defRPr>
            </a:pPr>
            <a:r>
              <a:rPr sz="1275" b="1">
                <a:solidFill>
                  <a:srgbClr val="2F7660"/>
                </a:solidFill>
                <a:latin typeface="Bitstream Charter"/>
                <a:ea typeface="Bitstream Charter"/>
                <a:cs typeface="Bitstream Charter"/>
              </a:rPr>
              <a:t>03  /  FIELD 2 CORRECTIONS</a:t>
            </a:r>
          </a:p>
        </p:txBody>
      </p:sp>
      <p:sp>
        <p:nvSpPr>
          <p:cNvPr id="2" name="">
            <a:extLst xmlns:a="http://schemas.openxmlformats.org/drawingml/2006/main">
              <a:ext uri="{FF2B5EF4-FFF2-40B4-BE49-F238E27FC236}">
                <a16:creationId xmlns:a16="http://schemas.microsoft.com/office/drawing/2014/main" id="{07B161C7-2F3B-4BAC-AD16-F3C3257C1884}"/>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163C33"/>
                </a:solidFill>
                <a:latin typeface="Bitstream Charter"/>
                <a:ea typeface="Bitstream Charter"/>
                <a:cs typeface="Bitstream Charter"/>
              </a:defRPr>
            </a:pPr>
            <a:r>
              <a:rPr sz="3525" b="1">
                <a:solidFill>
                  <a:srgbClr val="163C33"/>
                </a:solidFill>
                <a:latin typeface="Bitstream Charter"/>
                <a:ea typeface="Bitstream Charter"/>
                <a:cs typeface="Bitstream Charter"/>
              </a:rPr>
              <a:t>Field 2 corrected the early assumptions</a:t>
            </a:r>
          </a:p>
        </p:txBody>
      </p:sp>
      <p:sp>
        <p:nvSpPr>
          <p:cNvPr id="3" name="">
            <a:extLst xmlns:a="http://schemas.openxmlformats.org/drawingml/2006/main">
              <a:ext uri="{FF2B5EF4-FFF2-40B4-BE49-F238E27FC236}">
                <a16:creationId xmlns:a16="http://schemas.microsoft.com/office/drawing/2014/main" id="{5ED90BF8-C89E-4020-9556-D18AE82EDEF0}"/>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607169"/>
                </a:solidFill>
                <a:latin typeface="Bitstream Charter"/>
                <a:ea typeface="Bitstream Charter"/>
                <a:cs typeface="Bitstream Charter"/>
              </a:defRPr>
            </a:pPr>
            <a:r>
              <a:rPr sz="1050" b="0">
                <a:solidFill>
                  <a:srgbClr val="607169"/>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519A506A-D28F-4C57-976E-48F941137FF5}"/>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2F7660"/>
                </a:solidFill>
                <a:latin typeface="Bitstream Charter"/>
                <a:ea typeface="Bitstream Charter"/>
                <a:cs typeface="Bitstream Charter"/>
              </a:defRPr>
            </a:pPr>
            <a:r>
              <a:rPr sz="1500" b="1">
                <a:solidFill>
                  <a:srgbClr val="2F7660"/>
                </a:solidFill>
                <a:latin typeface="Bitstream Charter"/>
                <a:ea typeface="Bitstream Charter"/>
                <a:cs typeface="Bitstream Charter"/>
              </a:rPr>
              <a:t>04</a:t>
            </a:r>
          </a:p>
        </p:txBody>
      </p:sp>
      <p:graphicFrame>
        <p:nvGraphicFramePr>
          <p:cNvPr id="11" name="">
            <a:extLst xmlns:a="http://schemas.openxmlformats.org/drawingml/2006/main">
              <a:ext uri="{FF2B5EF4-FFF2-40B4-BE49-F238E27FC236}">
                <a16:creationId xmlns:a16="http://schemas.microsoft.com/office/drawing/2014/main" id="{37CB3C92-C76F-4A00-8BB3-9A5A08066D59}"/>
              </a:ext>
            </a:extLst>
          </p:cNvPr>
          <p:cNvGraphicFramePr/>
          <p:nvPr/>
        </p:nvGraphicFramePr>
        <p:xfrm>
          <a:off xmlns:a="http://schemas.openxmlformats.org/drawingml/2006/main" x="609600" y="2143125"/>
          <a:ext xmlns:a="http://schemas.openxmlformats.org/drawingml/2006/main" cx="10972800" cy="3124200"/>
        </p:xfrm>
        <a:graphic xmlns:a="http://schemas.openxmlformats.org/drawingml/2006/main">
          <a:graphicData uri="http://schemas.openxmlformats.org/drawingml/2006/table">
            <a:tbl>
              <a:tblPr/>
              <a:tblGrid>
                <a:gridCol w="5048250"/>
                <a:gridCol w="5924550"/>
              </a:tblGrid>
              <a:tr h="628650">
                <a:tc>
                  <a:txBody>
                    <a:bodyPr/>
                    <a:lstStyle/>
                    <a:p>
                      <a:r>
                        <a:rPr sz="1575" b="1">
                          <a:solidFill>
                            <a:srgbClr val="F4F1E9"/>
                          </a:solidFill>
                          <a:latin typeface="Bitstream Charter"/>
                          <a:ea typeface="Bitstream Charter"/>
                          <a:cs typeface="Bitstream Charter"/>
                        </a:rPr>
                        <a:t>Question from the review</a:t>
                      </a:r>
                    </a:p>
                  </a:txBody>
                  <a:tcPr marL="171450" marR="171450" marT="152400" marB="152400" anchor="ctr">
                    <a:solidFill>
                      <a:srgbClr val="163C33"/>
                    </a:solidFill>
                  </a:tcPr>
                </a:tc>
                <a:tc>
                  <a:txBody>
                    <a:bodyPr/>
                    <a:lstStyle/>
                    <a:p>
                      <a:r>
                        <a:rPr sz="1575" b="1">
                          <a:solidFill>
                            <a:srgbClr val="F4F1E9"/>
                          </a:solidFill>
                          <a:latin typeface="Bitstream Charter"/>
                          <a:ea typeface="Bitstream Charter"/>
                          <a:cs typeface="Bitstream Charter"/>
                        </a:rPr>
                        <a:t>What Field 2 found</a:t>
                      </a:r>
                    </a:p>
                  </a:txBody>
                  <a:tcPr marL="171450" marR="171450" marT="152400" marB="152400" anchor="ctr">
                    <a:solidFill>
                      <a:srgbClr val="163C33"/>
                    </a:solidFill>
                  </a:tcPr>
                </a:tc>
              </a:tr>
              <a:tr h="831850">
                <a:tc>
                  <a:txBody>
                    <a:bodyPr/>
                    <a:lstStyle/>
                    <a:p>
                      <a:r>
                        <a:rPr sz="1800">
                          <a:solidFill>
                            <a:srgbClr val="163C33"/>
                          </a:solidFill>
                          <a:latin typeface="Bitstream Charter"/>
                          <a:ea typeface="Bitstream Charter"/>
                          <a:cs typeface="Bitstream Charter"/>
                        </a:rPr>
                        <a:t>Does Tuba sort waste again?</a:t>
                      </a:r>
                    </a:p>
                  </a:txBody>
                  <a:tcPr marL="171450" marR="171450" marT="152400" marB="152400" anchor="ctr">
                    <a:solidFill>
                      <a:srgbClr val="E5E9DF"/>
                    </a:solidFill>
                  </a:tcPr>
                </a:tc>
                <a:tc>
                  <a:txBody>
                    <a:bodyPr/>
                    <a:lstStyle/>
                    <a:p>
                      <a:r>
                        <a:rPr sz="1800">
                          <a:solidFill>
                            <a:srgbClr val="163C33"/>
                          </a:solidFill>
                          <a:latin typeface="Bitstream Charter"/>
                          <a:ea typeface="Bitstream Charter"/>
                          <a:cs typeface="Bitstream Charter"/>
                        </a:rPr>
                        <a:t>No additional sorting during unloading</a:t>
                      </a:r>
                    </a:p>
                  </a:txBody>
                  <a:tcPr marL="171450" marR="171450" marT="152400" marB="152400" anchor="ctr">
                    <a:solidFill>
                      <a:srgbClr val="E5E9DF"/>
                    </a:solidFill>
                  </a:tcPr>
                </a:tc>
              </a:tr>
              <a:tr h="831850">
                <a:tc>
                  <a:txBody>
                    <a:bodyPr/>
                    <a:lstStyle/>
                    <a:p>
                      <a:r>
                        <a:rPr sz="1800">
                          <a:solidFill>
                            <a:srgbClr val="163C33"/>
                          </a:solidFill>
                          <a:latin typeface="Bitstream Charter"/>
                          <a:ea typeface="Bitstream Charter"/>
                          <a:cs typeface="Bitstream Charter"/>
                        </a:rPr>
                        <a:t>Do trucks routinely collect volunteers?</a:t>
                      </a:r>
                    </a:p>
                  </a:txBody>
                  <a:tcPr marL="171450" marR="171450" marT="152400" marB="152400" anchor="ctr">
                    <a:solidFill>
                      <a:srgbClr val="EDF0E7"/>
                    </a:solidFill>
                  </a:tcPr>
                </a:tc>
                <a:tc>
                  <a:txBody>
                    <a:bodyPr/>
                    <a:lstStyle/>
                    <a:p>
                      <a:r>
                        <a:rPr sz="1800">
                          <a:solidFill>
                            <a:srgbClr val="163C33"/>
                          </a:solidFill>
                          <a:latin typeface="Bitstream Charter"/>
                          <a:ea typeface="Bitstream Charter"/>
                          <a:cs typeface="Bitstream Charter"/>
                        </a:rPr>
                        <a:t>Volunteers usually wait at Irisan or New Lucban</a:t>
                      </a:r>
                    </a:p>
                  </a:txBody>
                  <a:tcPr marL="171450" marR="171450" marT="152400" marB="152400" anchor="ctr">
                    <a:solidFill>
                      <a:srgbClr val="EDF0E7"/>
                    </a:solidFill>
                  </a:tcPr>
                </a:tc>
              </a:tr>
              <a:tr h="831850">
                <a:tc>
                  <a:txBody>
                    <a:bodyPr/>
                    <a:lstStyle/>
                    <a:p>
                      <a:r>
                        <a:rPr sz="1800">
                          <a:solidFill>
                            <a:srgbClr val="163C33"/>
                          </a:solidFill>
                          <a:latin typeface="Bitstream Charter"/>
                          <a:ea typeface="Bitstream Charter"/>
                          <a:cs typeface="Bitstream Charter"/>
                        </a:rPr>
                        <a:t>Why do trucks park at GSO?</a:t>
                      </a:r>
                    </a:p>
                  </a:txBody>
                  <a:tcPr marL="171450" marR="171450" marT="152400" marB="152400" anchor="ctr">
                    <a:solidFill>
                      <a:srgbClr val="E5E9DF"/>
                    </a:solidFill>
                  </a:tcPr>
                </a:tc>
                <a:tc>
                  <a:txBody>
                    <a:bodyPr/>
                    <a:lstStyle/>
                    <a:p>
                      <a:r>
                        <a:rPr sz="1800">
                          <a:solidFill>
                            <a:srgbClr val="163C33"/>
                          </a:solidFill>
                          <a:latin typeface="Bitstream Charter"/>
                          <a:ea typeface="Bitstream Charter"/>
                          <a:cs typeface="Bitstream Charter"/>
                        </a:rPr>
                        <a:t>Maintenance</a:t>
                      </a:r>
                    </a:p>
                  </a:txBody>
                  <a:tcPr marL="171450" marR="171450" marT="152400" marB="152400" anchor="ctr">
                    <a:solidFill>
                      <a:srgbClr val="E5E9DF"/>
                    </a:solidFill>
                  </a:tcPr>
                </a:tc>
              </a:tr>
            </a:tbl>
          </a:graphicData>
        </a:graphic>
      </p:graphicFrame>
      <p:sp>
        <p:nvSpPr>
          <p:cNvPr id="6" name="">
            <a:extLst xmlns:a="http://schemas.openxmlformats.org/drawingml/2006/main">
              <a:ext uri="{FF2B5EF4-FFF2-40B4-BE49-F238E27FC236}">
                <a16:creationId xmlns:a16="http://schemas.microsoft.com/office/drawing/2014/main" id="{01056577-642A-4508-B8AA-D11405EFFE6D}"/>
              </a:ext>
            </a:extLst>
          </p:cNvPr>
          <p:cNvSpPr>
            <a:spLocks xmlns:a="http://schemas.openxmlformats.org/drawingml/2006/main" noGrp="1"/>
          </p:cNvSpPr>
          <p:nvPr/>
        </p:nvSpPr>
        <p:spPr>
          <a:xfrm xmlns:a="http://schemas.openxmlformats.org/drawingml/2006/main">
            <a:off x="609600" y="55721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2F7660"/>
                </a:solidFill>
                <a:latin typeface="Bitstream Charter"/>
                <a:ea typeface="Bitstream Charter"/>
                <a:cs typeface="Bitstream Charter"/>
              </a:defRPr>
            </a:pPr>
            <a:r>
              <a:rPr sz="2325" b="1">
                <a:solidFill>
                  <a:srgbClr val="2F7660"/>
                </a:solidFill>
                <a:latin typeface="Bitstream Charter"/>
                <a:ea typeface="Bitstream Charter"/>
                <a:cs typeface="Bitstream Charter"/>
              </a:rPr>
              <a:t>Sorting alone does not explain the collection delays.</a:t>
            </a:r>
          </a:p>
        </p:txBody>
      </p:sp>
    </p:spTree>
    <p:extLst>
      <p:ext uri="{BB962C8B-B14F-4D97-AF65-F5344CB8AC3E}">
        <p14:creationId xmlns:p14="http://schemas.microsoft.com/office/powerpoint/2010/main" val="1603423276"/>
      </p:ext>
    </p:extLst>
  </p:cSld>
</p:sld>
</file>

<file path=ppt/slides/slide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03E8A2-CD35-4BDB-B912-B497D72AD60C}"/>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2F7660"/>
                </a:solidFill>
                <a:latin typeface="Bitstream Charter"/>
                <a:ea typeface="Bitstream Charter"/>
                <a:cs typeface="Bitstream Charter"/>
              </a:defRPr>
            </a:pPr>
            <a:r>
              <a:rPr sz="1275" b="1">
                <a:solidFill>
                  <a:srgbClr val="2F7660"/>
                </a:solidFill>
                <a:latin typeface="Bitstream Charter"/>
                <a:ea typeface="Bitstream Charter"/>
                <a:cs typeface="Bitstream Charter"/>
              </a:rPr>
              <a:t>04  /  DRIVER WORKLOAD</a:t>
            </a:r>
          </a:p>
        </p:txBody>
      </p:sp>
      <p:sp>
        <p:nvSpPr>
          <p:cNvPr id="2" name="">
            <a:extLst xmlns:a="http://schemas.openxmlformats.org/drawingml/2006/main">
              <a:ext uri="{FF2B5EF4-FFF2-40B4-BE49-F238E27FC236}">
                <a16:creationId xmlns:a16="http://schemas.microsoft.com/office/drawing/2014/main" id="{3C802F2B-F617-417F-885F-B28911819E6B}"/>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163C33"/>
                </a:solidFill>
                <a:latin typeface="Bitstream Charter"/>
                <a:ea typeface="Bitstream Charter"/>
                <a:cs typeface="Bitstream Charter"/>
              </a:defRPr>
            </a:pPr>
            <a:r>
              <a:rPr sz="3525" b="1">
                <a:solidFill>
                  <a:srgbClr val="163C33"/>
                </a:solidFill>
                <a:latin typeface="Bitstream Charter"/>
                <a:ea typeface="Bitstream Charter"/>
                <a:cs typeface="Bitstream Charter"/>
              </a:rPr>
              <a:t>Work often extends beyond the paper shift</a:t>
            </a:r>
          </a:p>
        </p:txBody>
      </p:sp>
      <p:sp>
        <p:nvSpPr>
          <p:cNvPr id="3" name="">
            <a:extLst xmlns:a="http://schemas.openxmlformats.org/drawingml/2006/main">
              <a:ext uri="{FF2B5EF4-FFF2-40B4-BE49-F238E27FC236}">
                <a16:creationId xmlns:a16="http://schemas.microsoft.com/office/drawing/2014/main" id="{4E8A1A90-4676-4311-B396-28D66C93A26A}"/>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607169"/>
                </a:solidFill>
                <a:latin typeface="Bitstream Charter"/>
                <a:ea typeface="Bitstream Charter"/>
                <a:cs typeface="Bitstream Charter"/>
              </a:defRPr>
            </a:pPr>
            <a:r>
              <a:rPr sz="1050" b="0">
                <a:solidFill>
                  <a:srgbClr val="607169"/>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F8CF44ED-696E-442A-8210-C462D16736A3}"/>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2F7660"/>
                </a:solidFill>
                <a:latin typeface="Bitstream Charter"/>
                <a:ea typeface="Bitstream Charter"/>
                <a:cs typeface="Bitstream Charter"/>
              </a:defRPr>
            </a:pPr>
            <a:r>
              <a:rPr sz="1500" b="1">
                <a:solidFill>
                  <a:srgbClr val="2F7660"/>
                </a:solidFill>
                <a:latin typeface="Bitstream Charter"/>
                <a:ea typeface="Bitstream Charter"/>
                <a:cs typeface="Bitstream Charter"/>
              </a:rPr>
              <a:t>05</a:t>
            </a:r>
          </a:p>
        </p:txBody>
      </p:sp>
      <p:graphicFrame>
        <p:nvGraphicFramePr>
          <p:cNvPr id="12" name="Chart">
            <a:extLst xmlns:a="http://schemas.openxmlformats.org/drawingml/2006/main">
              <a:ext uri="{FF2B5EF4-FFF2-40B4-BE49-F238E27FC236}">
                <a16:creationId xmlns:a16="http://schemas.microsoft.com/office/drawing/2014/main" id="{3A6CCD93-C842-411E-A87B-2CD44825304C}"/>
              </a:ext>
            </a:extLst>
          </p:cNvPr>
          <p:cNvGraphicFramePr/>
          <p:nvPr/>
        </p:nvGraphicFramePr>
        <p:xfrm>
          <a:off xmlns:a="http://schemas.openxmlformats.org/drawingml/2006/main" x="666750" y="2114550"/>
          <a:ext xmlns:a="http://schemas.openxmlformats.org/drawingml/2006/main" cx="7334250" cy="3371850"/>
        </p:xfrm>
        <a:graphic xmlns:a="http://schemas.openxmlformats.org/drawingml/2006/main">
          <a:graphicData uri="http://schemas.openxmlformats.org/drawingml/2006/chart">
            <c:chart xmlns:r="http://schemas.openxmlformats.org/officeDocument/2006/relationships" xmlns:c="http://schemas.openxmlformats.org/drawingml/2006/chart" r:id="R47e48cf5d3a949f0"/>
          </a:graphicData>
        </a:graphic>
      </p:graphicFrame>
      <p:sp>
        <p:nvSpPr>
          <p:cNvPr id="6" name="">
            <a:extLst xmlns:a="http://schemas.openxmlformats.org/drawingml/2006/main">
              <a:ext uri="{FF2B5EF4-FFF2-40B4-BE49-F238E27FC236}">
                <a16:creationId xmlns:a16="http://schemas.microsoft.com/office/drawing/2014/main" id="{100D4D40-228C-4655-B124-B25C56773CA3}"/>
              </a:ext>
            </a:extLst>
          </p:cNvPr>
          <p:cNvSpPr>
            <a:spLocks xmlns:a="http://schemas.openxmlformats.org/drawingml/2006/main" noGrp="1"/>
          </p:cNvSpPr>
          <p:nvPr/>
        </p:nvSpPr>
        <p:spPr>
          <a:xfrm xmlns:a="http://schemas.openxmlformats.org/drawingml/2006/main">
            <a:off x="8439150" y="2657475"/>
            <a:ext cx="31051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63C33"/>
                </a:solidFill>
                <a:latin typeface="Bitstream Charter"/>
                <a:ea typeface="Bitstream Charter"/>
                <a:cs typeface="Bitstream Charter"/>
              </a:defRPr>
            </a:pPr>
            <a:r>
              <a:rPr sz="2400" b="1">
                <a:solidFill>
                  <a:srgbClr val="163C33"/>
                </a:solidFill>
                <a:latin typeface="Bitstream Charter"/>
                <a:ea typeface="Bitstream Charter"/>
                <a:cs typeface="Bitstream Charter"/>
              </a:rPr>
              <a:t>Completion of</a:t>
            </a:r>
          </a:p>
          <a:p xmlns:a="http://schemas.openxmlformats.org/drawingml/2006/main">
            <a:pPr>
              <a:buNone/>
              <a:defRPr sz="2400" b="1">
                <a:solidFill>
                  <a:srgbClr val="163C33"/>
                </a:solidFill>
                <a:latin typeface="Bitstream Charter"/>
                <a:ea typeface="Bitstream Charter"/>
                <a:cs typeface="Bitstream Charter"/>
              </a:defRPr>
            </a:pPr>
            <a:r>
              <a:rPr sz="2400" b="1">
                <a:solidFill>
                  <a:srgbClr val="163C33"/>
                </a:solidFill>
                <a:latin typeface="Bitstream Charter"/>
                <a:ea typeface="Bitstream Charter"/>
                <a:cs typeface="Bitstream Charter"/>
              </a:rPr>
              <a:t>assigned areas</a:t>
            </a:r>
          </a:p>
          <a:p xmlns:a="http://schemas.openxmlformats.org/drawingml/2006/main">
            <a:pPr>
              <a:buNone/>
              <a:defRPr sz="2400" b="1">
                <a:solidFill>
                  <a:srgbClr val="163C33"/>
                </a:solidFill>
                <a:latin typeface="Bitstream Charter"/>
                <a:ea typeface="Bitstream Charter"/>
                <a:cs typeface="Bitstream Charter"/>
              </a:defRPr>
            </a:pPr>
            <a:r>
              <a:rPr sz="2400" b="1">
                <a:solidFill>
                  <a:srgbClr val="163C33"/>
                </a:solidFill>
                <a:latin typeface="Bitstream Charter"/>
                <a:ea typeface="Bitstream Charter"/>
                <a:cs typeface="Bitstream Charter"/>
              </a:rPr>
              <a:t>ends the shift.</a:t>
            </a:r>
          </a:p>
        </p:txBody>
      </p:sp>
      <p:sp>
        <p:nvSpPr>
          <p:cNvPr id="7" name="">
            <a:extLst xmlns:a="http://schemas.openxmlformats.org/drawingml/2006/main">
              <a:ext uri="{FF2B5EF4-FFF2-40B4-BE49-F238E27FC236}">
                <a16:creationId xmlns:a16="http://schemas.microsoft.com/office/drawing/2014/main" id="{98C35993-8E06-4325-BBB4-3468017919BD}"/>
              </a:ext>
            </a:extLst>
          </p:cNvPr>
          <p:cNvSpPr>
            <a:spLocks xmlns:a="http://schemas.openxmlformats.org/drawingml/2006/main" noGrp="1"/>
          </p:cNvSpPr>
          <p:nvPr/>
        </p:nvSpPr>
        <p:spPr>
          <a:xfrm xmlns:a="http://schemas.openxmlformats.org/drawingml/2006/main">
            <a:off x="609600" y="57054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07169"/>
                </a:solidFill>
                <a:latin typeface="Bitstream Charter"/>
                <a:ea typeface="Bitstream Charter"/>
                <a:cs typeface="Bitstream Charter"/>
              </a:defRPr>
            </a:pPr>
            <a:r>
              <a:rPr sz="1800" b="0">
                <a:solidFill>
                  <a:srgbClr val="607169"/>
                </a:solidFill>
                <a:latin typeface="Bitstream Charter"/>
                <a:ea typeface="Bitstream Charter"/>
                <a:cs typeface="Bitstream Charter"/>
              </a:rPr>
              <a:t>3 drivers were still on duty after 13 hours. This is not a fleet average.</a:t>
            </a:r>
          </a:p>
        </p:txBody>
      </p:sp>
    </p:spTree>
    <p:extLst>
      <p:ext uri="{BB962C8B-B14F-4D97-AF65-F5344CB8AC3E}">
        <p14:creationId xmlns:p14="http://schemas.microsoft.com/office/powerpoint/2010/main" val="380668446"/>
      </p:ext>
    </p:extLst>
  </p:cSld>
</p:sld>
</file>

<file path=ppt/slides/slide6.xml><?xml version="1.0" encoding="utf-8"?>
<p:sld xmlns:p="http://schemas.openxmlformats.org/presentationml/2006/main">
  <p:cSld>
    <p:bg>
      <p:bgPr>
        <a:solidFill xmlns:a="http://schemas.openxmlformats.org/drawingml/2006/main">
          <a:srgbClr val="163C3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F57276-4FBF-40B9-A02A-74FC16200860}"/>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D1E880"/>
                </a:solidFill>
                <a:latin typeface="Bitstream Charter"/>
                <a:ea typeface="Bitstream Charter"/>
                <a:cs typeface="Bitstream Charter"/>
              </a:defRPr>
            </a:pPr>
            <a:r>
              <a:rPr sz="1275" b="1">
                <a:solidFill>
                  <a:srgbClr val="D1E880"/>
                </a:solidFill>
                <a:latin typeface="Bitstream Charter"/>
                <a:ea typeface="Bitstream Charter"/>
                <a:cs typeface="Bitstream Charter"/>
              </a:rPr>
              <a:t>05  /  STAFFING AVAILABILITY</a:t>
            </a:r>
          </a:p>
        </p:txBody>
      </p:sp>
      <p:sp>
        <p:nvSpPr>
          <p:cNvPr id="2" name="">
            <a:extLst xmlns:a="http://schemas.openxmlformats.org/drawingml/2006/main">
              <a:ext uri="{FF2B5EF4-FFF2-40B4-BE49-F238E27FC236}">
                <a16:creationId xmlns:a16="http://schemas.microsoft.com/office/drawing/2014/main" id="{5520E2FD-3F08-4B68-A764-0E2356388FA3}"/>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F4F1E9"/>
                </a:solidFill>
                <a:latin typeface="Bitstream Charter"/>
                <a:ea typeface="Bitstream Charter"/>
                <a:cs typeface="Bitstream Charter"/>
              </a:defRPr>
            </a:pPr>
            <a:r>
              <a:rPr sz="3525" b="1">
                <a:solidFill>
                  <a:srgbClr val="F4F1E9"/>
                </a:solidFill>
                <a:latin typeface="Bitstream Charter"/>
                <a:ea typeface="Bitstream Charter"/>
                <a:cs typeface="Bitstream Charter"/>
              </a:rPr>
              <a:t>Driver days off reduce weekend deployment</a:t>
            </a:r>
          </a:p>
        </p:txBody>
      </p:sp>
      <p:sp>
        <p:nvSpPr>
          <p:cNvPr id="3" name="">
            <a:extLst xmlns:a="http://schemas.openxmlformats.org/drawingml/2006/main">
              <a:ext uri="{FF2B5EF4-FFF2-40B4-BE49-F238E27FC236}">
                <a16:creationId xmlns:a16="http://schemas.microsoft.com/office/drawing/2014/main" id="{7DF04BAA-3943-4063-B396-BC345DFD8A0F}"/>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A8BDB4"/>
                </a:solidFill>
                <a:latin typeface="Bitstream Charter"/>
                <a:ea typeface="Bitstream Charter"/>
                <a:cs typeface="Bitstream Charter"/>
              </a:defRPr>
            </a:pPr>
            <a:r>
              <a:rPr sz="1050" b="0">
                <a:solidFill>
                  <a:srgbClr val="A8BDB4"/>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D865291D-9C01-45EE-95FC-4FDA70A752B4}"/>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D1E880"/>
                </a:solidFill>
                <a:latin typeface="Bitstream Charter"/>
                <a:ea typeface="Bitstream Charter"/>
                <a:cs typeface="Bitstream Charter"/>
              </a:defRPr>
            </a:pPr>
            <a:r>
              <a:rPr sz="1500" b="1">
                <a:solidFill>
                  <a:srgbClr val="D1E880"/>
                </a:solidFill>
                <a:latin typeface="Bitstream Charter"/>
                <a:ea typeface="Bitstream Charter"/>
                <a:cs typeface="Bitstream Charter"/>
              </a:rPr>
              <a:t>06</a:t>
            </a:r>
          </a:p>
        </p:txBody>
      </p:sp>
      <p:sp>
        <p:nvSpPr>
          <p:cNvPr id="5" name="">
            <a:extLst xmlns:a="http://schemas.openxmlformats.org/drawingml/2006/main">
              <a:ext uri="{FF2B5EF4-FFF2-40B4-BE49-F238E27FC236}">
                <a16:creationId xmlns:a16="http://schemas.microsoft.com/office/drawing/2014/main" id="{BFA3DEA0-001C-487D-8259-7E2C7F45CFE7}"/>
              </a:ext>
            </a:extLst>
          </p:cNvPr>
          <p:cNvSpPr>
            <a:spLocks xmlns:a="http://schemas.openxmlformats.org/drawingml/2006/main" noGrp="1"/>
          </p:cNvSpPr>
          <p:nvPr/>
        </p:nvSpPr>
        <p:spPr>
          <a:xfrm xmlns:a="http://schemas.openxmlformats.org/drawingml/2006/main">
            <a:off x="609600" y="2114550"/>
            <a:ext cx="5334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625" b="1">
                <a:solidFill>
                  <a:srgbClr val="F4F1E9"/>
                </a:solidFill>
                <a:latin typeface="Bitstream Charter"/>
                <a:ea typeface="Bitstream Charter"/>
                <a:cs typeface="Bitstream Charter"/>
              </a:defRPr>
            </a:pPr>
            <a:r>
              <a:rPr sz="8625" b="1">
                <a:solidFill>
                  <a:srgbClr val="F4F1E9"/>
                </a:solidFill>
                <a:latin typeface="Bitstream Charter"/>
                <a:ea typeface="Bitstream Charter"/>
                <a:cs typeface="Bitstream Charter"/>
              </a:rPr>
              <a:t>24–25</a:t>
            </a:r>
          </a:p>
        </p:txBody>
      </p:sp>
      <p:sp>
        <p:nvSpPr>
          <p:cNvPr id="6" name="">
            <a:extLst xmlns:a="http://schemas.openxmlformats.org/drawingml/2006/main">
              <a:ext uri="{FF2B5EF4-FFF2-40B4-BE49-F238E27FC236}">
                <a16:creationId xmlns:a16="http://schemas.microsoft.com/office/drawing/2014/main" id="{6A93462C-5B6B-44D4-BFDE-84C1AFF64906}"/>
              </a:ext>
            </a:extLst>
          </p:cNvPr>
          <p:cNvSpPr>
            <a:spLocks xmlns:a="http://schemas.openxmlformats.org/drawingml/2006/main" noGrp="1"/>
          </p:cNvSpPr>
          <p:nvPr/>
        </p:nvSpPr>
        <p:spPr>
          <a:xfrm xmlns:a="http://schemas.openxmlformats.org/drawingml/2006/main">
            <a:off x="685800" y="37052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1E9"/>
                </a:solidFill>
                <a:latin typeface="Bitstream Charter"/>
                <a:ea typeface="Bitstream Charter"/>
                <a:cs typeface="Bitstream Charter"/>
              </a:defRPr>
            </a:pPr>
            <a:r>
              <a:rPr sz="2325" b="0">
                <a:solidFill>
                  <a:srgbClr val="F4F1E9"/>
                </a:solidFill>
                <a:latin typeface="Bitstream Charter"/>
                <a:ea typeface="Bitstream Charter"/>
                <a:cs typeface="Bitstream Charter"/>
              </a:rPr>
              <a:t>trucks on weekdays</a:t>
            </a:r>
          </a:p>
        </p:txBody>
      </p:sp>
      <p:sp>
        <p:nvSpPr>
          <p:cNvPr id="7" name="">
            <a:extLst xmlns:a="http://schemas.openxmlformats.org/drawingml/2006/main">
              <a:ext uri="{FF2B5EF4-FFF2-40B4-BE49-F238E27FC236}">
                <a16:creationId xmlns:a16="http://schemas.microsoft.com/office/drawing/2014/main" id="{903DE169-FAE2-46ED-861C-5C6F43479AE7}"/>
              </a:ext>
            </a:extLst>
          </p:cNvPr>
          <p:cNvSpPr>
            <a:spLocks xmlns:a="http://schemas.openxmlformats.org/drawingml/2006/main" noGrp="1"/>
          </p:cNvSpPr>
          <p:nvPr/>
        </p:nvSpPr>
        <p:spPr>
          <a:xfrm xmlns:a="http://schemas.openxmlformats.org/drawingml/2006/main">
            <a:off x="6858000" y="2114550"/>
            <a:ext cx="4572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625" b="1">
                <a:solidFill>
                  <a:srgbClr val="D1E880"/>
                </a:solidFill>
                <a:latin typeface="Bitstream Charter"/>
                <a:ea typeface="Bitstream Charter"/>
                <a:cs typeface="Bitstream Charter"/>
              </a:defRPr>
            </a:pPr>
            <a:r>
              <a:rPr sz="8625" b="1">
                <a:solidFill>
                  <a:srgbClr val="D1E880"/>
                </a:solidFill>
                <a:latin typeface="Bitstream Charter"/>
                <a:ea typeface="Bitstream Charter"/>
                <a:cs typeface="Bitstream Charter"/>
              </a:rPr>
              <a:t>8–9</a:t>
            </a:r>
          </a:p>
        </p:txBody>
      </p:sp>
      <p:sp>
        <p:nvSpPr>
          <p:cNvPr id="8" name="">
            <a:extLst xmlns:a="http://schemas.openxmlformats.org/drawingml/2006/main">
              <a:ext uri="{FF2B5EF4-FFF2-40B4-BE49-F238E27FC236}">
                <a16:creationId xmlns:a16="http://schemas.microsoft.com/office/drawing/2014/main" id="{AFE38D7C-2F61-49EA-A12E-07AE5D225291}"/>
              </a:ext>
            </a:extLst>
          </p:cNvPr>
          <p:cNvSpPr>
            <a:spLocks xmlns:a="http://schemas.openxmlformats.org/drawingml/2006/main" noGrp="1"/>
          </p:cNvSpPr>
          <p:nvPr/>
        </p:nvSpPr>
        <p:spPr>
          <a:xfrm xmlns:a="http://schemas.openxmlformats.org/drawingml/2006/main">
            <a:off x="6896100" y="3705225"/>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1E9"/>
                </a:solidFill>
                <a:latin typeface="Bitstream Charter"/>
                <a:ea typeface="Bitstream Charter"/>
                <a:cs typeface="Bitstream Charter"/>
              </a:defRPr>
            </a:pPr>
            <a:r>
              <a:rPr sz="2325" b="0">
                <a:solidFill>
                  <a:srgbClr val="F4F1E9"/>
                </a:solidFill>
                <a:latin typeface="Bitstream Charter"/>
                <a:ea typeface="Bitstream Charter"/>
                <a:cs typeface="Bitstream Charter"/>
              </a:rPr>
              <a:t>trucks on weekends</a:t>
            </a:r>
          </a:p>
        </p:txBody>
      </p:sp>
      <p:sp>
        <p:nvSpPr>
          <p:cNvPr id="9" name="">
            <a:extLst xmlns:a="http://schemas.openxmlformats.org/drawingml/2006/main">
              <a:ext uri="{FF2B5EF4-FFF2-40B4-BE49-F238E27FC236}">
                <a16:creationId xmlns:a16="http://schemas.microsoft.com/office/drawing/2014/main" id="{93020C44-947B-4A8C-A024-8FDC97D9F8A6}"/>
              </a:ext>
            </a:extLst>
          </p:cNvPr>
          <p:cNvSpPr>
            <a:spLocks xmlns:a="http://schemas.openxmlformats.org/drawingml/2006/main" noGrp="1"/>
          </p:cNvSpPr>
          <p:nvPr/>
        </p:nvSpPr>
        <p:spPr>
          <a:xfrm xmlns:a="http://schemas.openxmlformats.org/drawingml/2006/main">
            <a:off x="609600" y="50006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F4F1E9"/>
                </a:solidFill>
                <a:latin typeface="Bitstream Charter"/>
                <a:ea typeface="Bitstream Charter"/>
                <a:cs typeface="Bitstream Charter"/>
              </a:defRPr>
            </a:pPr>
            <a:r>
              <a:rPr sz="2100" b="0">
                <a:solidFill>
                  <a:srgbClr val="F4F1E9"/>
                </a:solidFill>
                <a:latin typeface="Bitstream Charter"/>
                <a:ea typeface="Bitstream Charter"/>
                <a:cs typeface="Bitstream Charter"/>
              </a:rPr>
              <a:t>Reported weekday allocation: 22 morning + 3 afternoon / emergency</a:t>
            </a:r>
          </a:p>
        </p:txBody>
      </p:sp>
      <p:sp>
        <p:nvSpPr>
          <p:cNvPr id="10" name="">
            <a:extLst xmlns:a="http://schemas.openxmlformats.org/drawingml/2006/main">
              <a:ext uri="{FF2B5EF4-FFF2-40B4-BE49-F238E27FC236}">
                <a16:creationId xmlns:a16="http://schemas.microsoft.com/office/drawing/2014/main" id="{18371657-D207-473A-822E-68B911A9CA3F}"/>
              </a:ext>
            </a:extLst>
          </p:cNvPr>
          <p:cNvSpPr>
            <a:spLocks xmlns:a="http://schemas.openxmlformats.org/drawingml/2006/main" noGrp="1"/>
          </p:cNvSpPr>
          <p:nvPr/>
        </p:nvSpPr>
        <p:spPr>
          <a:xfrm xmlns:a="http://schemas.openxmlformats.org/drawingml/2006/main">
            <a:off x="609600" y="56578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D1E880"/>
                </a:solidFill>
                <a:latin typeface="Bitstream Charter"/>
                <a:ea typeface="Bitstream Charter"/>
                <a:cs typeface="Bitstream Charter"/>
              </a:defRPr>
            </a:pPr>
            <a:r>
              <a:rPr sz="2175" b="1">
                <a:solidFill>
                  <a:srgbClr val="D1E880"/>
                </a:solidFill>
                <a:latin typeface="Bitstream Charter"/>
                <a:ea typeface="Bitstream Charter"/>
                <a:cs typeface="Bitstream Charter"/>
              </a:rPr>
              <a:t>More operating hours require relief drivers and collection crews.</a:t>
            </a:r>
          </a:p>
        </p:txBody>
      </p:sp>
    </p:spTree>
    <p:extLst>
      <p:ext uri="{BB962C8B-B14F-4D97-AF65-F5344CB8AC3E}">
        <p14:creationId xmlns:p14="http://schemas.microsoft.com/office/powerpoint/2010/main" val="297393585"/>
      </p:ext>
    </p:extLst>
  </p:cSld>
</p:sld>
</file>

<file path=ppt/slides/slide7.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D12A67B-EB78-4F1E-9D4A-77365B325444}"/>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2F7660"/>
                </a:solidFill>
                <a:latin typeface="Bitstream Charter"/>
                <a:ea typeface="Bitstream Charter"/>
                <a:cs typeface="Bitstream Charter"/>
              </a:defRPr>
            </a:pPr>
            <a:r>
              <a:rPr sz="1275" b="1">
                <a:solidFill>
                  <a:srgbClr val="2F7660"/>
                </a:solidFill>
                <a:latin typeface="Bitstream Charter"/>
                <a:ea typeface="Bitstream Charter"/>
                <a:cs typeface="Bitstream Charter"/>
              </a:rPr>
              <a:t>06  /  ROUTING AND DAILY WORK</a:t>
            </a:r>
          </a:p>
        </p:txBody>
      </p:sp>
      <p:sp>
        <p:nvSpPr>
          <p:cNvPr id="2" name="">
            <a:extLst xmlns:a="http://schemas.openxmlformats.org/drawingml/2006/main">
              <a:ext uri="{FF2B5EF4-FFF2-40B4-BE49-F238E27FC236}">
                <a16:creationId xmlns:a16="http://schemas.microsoft.com/office/drawing/2014/main" id="{4B222C61-51D3-49FB-8836-D98C8EF2341D}"/>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163C33"/>
                </a:solidFill>
                <a:latin typeface="Bitstream Charter"/>
                <a:ea typeface="Bitstream Charter"/>
                <a:cs typeface="Bitstream Charter"/>
              </a:defRPr>
            </a:pPr>
            <a:r>
              <a:rPr sz="3525" b="1">
                <a:solidFill>
                  <a:srgbClr val="163C33"/>
                </a:solidFill>
                <a:latin typeface="Bitstream Charter"/>
                <a:ea typeface="Bitstream Charter"/>
                <a:cs typeface="Bitstream Charter"/>
              </a:rPr>
              <a:t>Nearby collection sites can have very different workloads</a:t>
            </a:r>
          </a:p>
        </p:txBody>
      </p:sp>
      <p:sp>
        <p:nvSpPr>
          <p:cNvPr id="3" name="">
            <a:extLst xmlns:a="http://schemas.openxmlformats.org/drawingml/2006/main">
              <a:ext uri="{FF2B5EF4-FFF2-40B4-BE49-F238E27FC236}">
                <a16:creationId xmlns:a16="http://schemas.microsoft.com/office/drawing/2014/main" id="{D4A922AC-2171-4F99-8E8C-C968485459DE}"/>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607169"/>
                </a:solidFill>
                <a:latin typeface="Bitstream Charter"/>
                <a:ea typeface="Bitstream Charter"/>
                <a:cs typeface="Bitstream Charter"/>
              </a:defRPr>
            </a:pPr>
            <a:r>
              <a:rPr sz="1050" b="0">
                <a:solidFill>
                  <a:srgbClr val="607169"/>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B112057B-7EAE-4280-8FB0-5E5D7E2238A6}"/>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2F7660"/>
                </a:solidFill>
                <a:latin typeface="Bitstream Charter"/>
                <a:ea typeface="Bitstream Charter"/>
                <a:cs typeface="Bitstream Charter"/>
              </a:defRPr>
            </a:pPr>
            <a:r>
              <a:rPr sz="1500" b="1">
                <a:solidFill>
                  <a:srgbClr val="2F7660"/>
                </a:solidFill>
                <a:latin typeface="Bitstream Charter"/>
                <a:ea typeface="Bitstream Charter"/>
                <a:cs typeface="Bitstream Charter"/>
              </a:rPr>
              <a:t>07</a:t>
            </a:r>
          </a:p>
        </p:txBody>
      </p:sp>
      <p:sp>
        <p:nvSpPr>
          <p:cNvPr id="5" name="">
            <a:extLst xmlns:a="http://schemas.openxmlformats.org/drawingml/2006/main">
              <a:ext uri="{FF2B5EF4-FFF2-40B4-BE49-F238E27FC236}">
                <a16:creationId xmlns:a16="http://schemas.microsoft.com/office/drawing/2014/main" id="{E971F030-28A4-4B4E-9DEF-306B98489912}"/>
              </a:ext>
            </a:extLst>
          </p:cNvPr>
          <p:cNvSpPr>
            <a:spLocks xmlns:a="http://schemas.openxmlformats.org/drawingml/2006/main" noGrp="1"/>
          </p:cNvSpPr>
          <p:nvPr/>
        </p:nvSpPr>
        <p:spPr>
          <a:xfrm xmlns:a="http://schemas.openxmlformats.org/drawingml/2006/main">
            <a:off x="609600" y="2305050"/>
            <a:ext cx="504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2F7660"/>
                </a:solidFill>
                <a:latin typeface="Bitstream Charter"/>
                <a:ea typeface="Bitstream Charter"/>
                <a:cs typeface="Bitstream Charter"/>
              </a:defRPr>
            </a:pPr>
            <a:r>
              <a:rPr sz="3000" b="1">
                <a:solidFill>
                  <a:srgbClr val="2F7660"/>
                </a:solidFill>
                <a:latin typeface="Bitstream Charter"/>
                <a:ea typeface="Bitstream Charter"/>
                <a:cs typeface="Bitstream Charter"/>
              </a:rPr>
              <a:t>Firing line</a:t>
            </a:r>
          </a:p>
        </p:txBody>
      </p:sp>
      <p:sp>
        <p:nvSpPr>
          <p:cNvPr id="6" name="">
            <a:extLst xmlns:a="http://schemas.openxmlformats.org/drawingml/2006/main">
              <a:ext uri="{FF2B5EF4-FFF2-40B4-BE49-F238E27FC236}">
                <a16:creationId xmlns:a16="http://schemas.microsoft.com/office/drawing/2014/main" id="{E8796022-6DAF-47B4-8F94-EA962571A43A}"/>
              </a:ext>
            </a:extLst>
          </p:cNvPr>
          <p:cNvSpPr>
            <a:spLocks xmlns:a="http://schemas.openxmlformats.org/drawingml/2006/main" noGrp="1"/>
          </p:cNvSpPr>
          <p:nvPr/>
        </p:nvSpPr>
        <p:spPr>
          <a:xfrm xmlns:a="http://schemas.openxmlformats.org/drawingml/2006/main">
            <a:off x="609600" y="31146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C33"/>
                </a:solidFill>
                <a:latin typeface="Bitstream Charter"/>
                <a:ea typeface="Bitstream Charter"/>
                <a:cs typeface="Bitstream Charter"/>
              </a:defRPr>
            </a:pPr>
            <a:r>
              <a:rPr sz="2250" b="0">
                <a:solidFill>
                  <a:srgbClr val="163C33"/>
                </a:solidFill>
                <a:latin typeface="Bitstream Charter"/>
                <a:ea typeface="Bitstream Charter"/>
                <a:cs typeface="Bitstream Charter"/>
              </a:rPr>
              <a:t>A slow-moving truck collects</a:t>
            </a:r>
          </a:p>
          <a:p xmlns:a="http://schemas.openxmlformats.org/drawingml/2006/main">
            <a:pPr>
              <a:buNone/>
              <a:defRPr sz="2250" b="0">
                <a:solidFill>
                  <a:srgbClr val="163C33"/>
                </a:solidFill>
                <a:latin typeface="Bitstream Charter"/>
                <a:ea typeface="Bitstream Charter"/>
                <a:cs typeface="Bitstream Charter"/>
              </a:defRPr>
            </a:pPr>
            <a:r>
              <a:rPr sz="2250" b="0">
                <a:solidFill>
                  <a:srgbClr val="163C33"/>
                </a:solidFill>
                <a:latin typeface="Bitstream Charter"/>
                <a:ea typeface="Bitstream Charter"/>
                <a:cs typeface="Bitstream Charter"/>
              </a:rPr>
              <a:t>waste along a street segment.</a:t>
            </a:r>
          </a:p>
        </p:txBody>
      </p:sp>
      <p:sp>
        <p:nvSpPr>
          <p:cNvPr id="7" name="">
            <a:extLst xmlns:a="http://schemas.openxmlformats.org/drawingml/2006/main">
              <a:ext uri="{FF2B5EF4-FFF2-40B4-BE49-F238E27FC236}">
                <a16:creationId xmlns:a16="http://schemas.microsoft.com/office/drawing/2014/main" id="{C2DF55B5-1ABF-4ACF-9D47-B6DA95D690FD}"/>
              </a:ext>
            </a:extLst>
          </p:cNvPr>
          <p:cNvSpPr>
            <a:spLocks xmlns:a="http://schemas.openxmlformats.org/drawingml/2006/main" noGrp="1"/>
          </p:cNvSpPr>
          <p:nvPr/>
        </p:nvSpPr>
        <p:spPr>
          <a:xfrm xmlns:a="http://schemas.openxmlformats.org/drawingml/2006/main">
            <a:off x="6534150" y="2305050"/>
            <a:ext cx="504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2F7660"/>
                </a:solidFill>
                <a:latin typeface="Bitstream Charter"/>
                <a:ea typeface="Bitstream Charter"/>
                <a:cs typeface="Bitstream Charter"/>
              </a:defRPr>
            </a:pPr>
            <a:r>
              <a:rPr sz="3000" b="1">
                <a:solidFill>
                  <a:srgbClr val="2F7660"/>
                </a:solidFill>
                <a:latin typeface="Bitstream Charter"/>
                <a:ea typeface="Bitstream Charter"/>
                <a:cs typeface="Bitstream Charter"/>
              </a:rPr>
              <a:t>Collection point</a:t>
            </a:r>
          </a:p>
        </p:txBody>
      </p:sp>
      <p:sp>
        <p:nvSpPr>
          <p:cNvPr id="8" name="">
            <a:extLst xmlns:a="http://schemas.openxmlformats.org/drawingml/2006/main">
              <a:ext uri="{FF2B5EF4-FFF2-40B4-BE49-F238E27FC236}">
                <a16:creationId xmlns:a16="http://schemas.microsoft.com/office/drawing/2014/main" id="{C22338D8-4313-47F9-948A-B1D8D755F255}"/>
              </a:ext>
            </a:extLst>
          </p:cNvPr>
          <p:cNvSpPr>
            <a:spLocks xmlns:a="http://schemas.openxmlformats.org/drawingml/2006/main" noGrp="1"/>
          </p:cNvSpPr>
          <p:nvPr/>
        </p:nvSpPr>
        <p:spPr>
          <a:xfrm xmlns:a="http://schemas.openxmlformats.org/drawingml/2006/main">
            <a:off x="6534150" y="31146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C33"/>
                </a:solidFill>
                <a:latin typeface="Bitstream Charter"/>
                <a:ea typeface="Bitstream Charter"/>
                <a:cs typeface="Bitstream Charter"/>
              </a:defRPr>
            </a:pPr>
            <a:r>
              <a:rPr sz="2250" b="0">
                <a:solidFill>
                  <a:srgbClr val="163C33"/>
                </a:solidFill>
                <a:latin typeface="Bitstream Charter"/>
                <a:ea typeface="Bitstream Charter"/>
                <a:cs typeface="Bitstream Charter"/>
              </a:rPr>
              <a:t>A single pile may need</a:t>
            </a:r>
          </a:p>
          <a:p xmlns:a="http://schemas.openxmlformats.org/drawingml/2006/main">
            <a:pPr>
              <a:buNone/>
              <a:defRPr sz="2250" b="0">
                <a:solidFill>
                  <a:srgbClr val="163C33"/>
                </a:solidFill>
                <a:latin typeface="Bitstream Charter"/>
                <a:ea typeface="Bitstream Charter"/>
                <a:cs typeface="Bitstream Charter"/>
              </a:defRPr>
            </a:pPr>
            <a:r>
              <a:rPr sz="2250" b="0">
                <a:solidFill>
                  <a:srgbClr val="163C33"/>
                </a:solidFill>
                <a:latin typeface="Bitstream Charter"/>
                <a:ea typeface="Bitstream Charter"/>
                <a:cs typeface="Bitstream Charter"/>
              </a:rPr>
              <a:t>more than one truck trip.</a:t>
            </a:r>
          </a:p>
        </p:txBody>
      </p:sp>
      <p:sp>
        <p:nvSpPr>
          <p:cNvPr id="9" name="">
            <a:extLst xmlns:a="http://schemas.openxmlformats.org/drawingml/2006/main">
              <a:ext uri="{FF2B5EF4-FFF2-40B4-BE49-F238E27FC236}">
                <a16:creationId xmlns:a16="http://schemas.microsoft.com/office/drawing/2014/main" id="{7B47FA0A-5566-4F80-BB64-9DB8BFB77718}"/>
              </a:ext>
            </a:extLst>
          </p:cNvPr>
          <p:cNvSpPr>
            <a:spLocks xmlns:a="http://schemas.openxmlformats.org/drawingml/2006/main" noGrp="1"/>
          </p:cNvSpPr>
          <p:nvPr/>
        </p:nvSpPr>
        <p:spPr>
          <a:xfrm xmlns:a="http://schemas.openxmlformats.org/drawingml/2006/main">
            <a:off x="609600" y="49244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63C33"/>
                </a:solidFill>
                <a:latin typeface="Bitstream Charter"/>
                <a:ea typeface="Bitstream Charter"/>
                <a:cs typeface="Bitstream Charter"/>
              </a:defRPr>
            </a:pPr>
            <a:r>
              <a:rPr sz="2550" b="1">
                <a:solidFill>
                  <a:srgbClr val="163C33"/>
                </a:solidFill>
                <a:latin typeface="Bitstream Charter"/>
                <a:ea typeface="Bitstream Charter"/>
                <a:cs typeface="Bitstream Charter"/>
              </a:rPr>
              <a:t>Traffic and backlogs change the route during the day.</a:t>
            </a:r>
          </a:p>
        </p:txBody>
      </p:sp>
      <p:sp>
        <p:nvSpPr>
          <p:cNvPr id="10" name="">
            <a:extLst xmlns:a="http://schemas.openxmlformats.org/drawingml/2006/main">
              <a:ext uri="{FF2B5EF4-FFF2-40B4-BE49-F238E27FC236}">
                <a16:creationId xmlns:a16="http://schemas.microsoft.com/office/drawing/2014/main" id="{C196FF71-F5C0-46DD-8C10-C04EC9B31F8E}"/>
              </a:ext>
            </a:extLst>
          </p:cNvPr>
          <p:cNvSpPr>
            <a:spLocks xmlns:a="http://schemas.openxmlformats.org/drawingml/2006/main" noGrp="1"/>
          </p:cNvSpPr>
          <p:nvPr/>
        </p:nvSpPr>
        <p:spPr>
          <a:xfrm xmlns:a="http://schemas.openxmlformats.org/drawingml/2006/main">
            <a:off x="609600" y="56578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607169"/>
                </a:solidFill>
                <a:latin typeface="Bitstream Charter"/>
                <a:ea typeface="Bitstream Charter"/>
                <a:cs typeface="Bitstream Charter"/>
              </a:defRPr>
            </a:pPr>
            <a:r>
              <a:rPr sz="1950" b="0">
                <a:solidFill>
                  <a:srgbClr val="607169"/>
                </a:solidFill>
                <a:latin typeface="Bitstream Charter"/>
                <a:ea typeface="Bitstream Charter"/>
                <a:cs typeface="Bitstream Charter"/>
              </a:rPr>
              <a:t>Point counts and map distance cannot describe the full workload.</a:t>
            </a:r>
          </a:p>
        </p:txBody>
      </p:sp>
    </p:spTree>
    <p:extLst>
      <p:ext uri="{BB962C8B-B14F-4D97-AF65-F5344CB8AC3E}">
        <p14:creationId xmlns:p14="http://schemas.microsoft.com/office/powerpoint/2010/main" val="662861120"/>
      </p:ext>
    </p:extLst>
  </p:cSld>
</p:sld>
</file>

<file path=ppt/slides/slide8.xml><?xml version="1.0" encoding="utf-8"?>
<p:sld xmlns:p="http://schemas.openxmlformats.org/presentationml/2006/main">
  <p:cSld>
    <p:bg>
      <p:bgPr>
        <a:solidFill xmlns:a="http://schemas.openxmlformats.org/drawingml/2006/main">
          <a:srgbClr val="163C3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48B31B0-803C-4AEE-A482-4D51592ECB8B}"/>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D1E880"/>
                </a:solidFill>
                <a:latin typeface="Bitstream Charter"/>
                <a:ea typeface="Bitstream Charter"/>
                <a:cs typeface="Bitstream Charter"/>
              </a:defRPr>
            </a:pPr>
            <a:r>
              <a:rPr sz="1275" b="1">
                <a:solidFill>
                  <a:srgbClr val="D1E880"/>
                </a:solidFill>
                <a:latin typeface="Bitstream Charter"/>
                <a:ea typeface="Bitstream Charter"/>
                <a:cs typeface="Bitstream Charter"/>
              </a:rPr>
              <a:t>07  /  COLLECTION CREWS</a:t>
            </a:r>
          </a:p>
        </p:txBody>
      </p:sp>
      <p:sp>
        <p:nvSpPr>
          <p:cNvPr id="2" name="">
            <a:extLst xmlns:a="http://schemas.openxmlformats.org/drawingml/2006/main">
              <a:ext uri="{FF2B5EF4-FFF2-40B4-BE49-F238E27FC236}">
                <a16:creationId xmlns:a16="http://schemas.microsoft.com/office/drawing/2014/main" id="{528E6CCE-C844-4AC1-97B1-A6B93555CFF6}"/>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F4F1E9"/>
                </a:solidFill>
                <a:latin typeface="Bitstream Charter"/>
                <a:ea typeface="Bitstream Charter"/>
                <a:cs typeface="Bitstream Charter"/>
              </a:defRPr>
            </a:pPr>
            <a:r>
              <a:rPr sz="3525" b="1">
                <a:solidFill>
                  <a:srgbClr val="F4F1E9"/>
                </a:solidFill>
                <a:latin typeface="Bitstream Charter"/>
                <a:ea typeface="Bitstream Charter"/>
                <a:cs typeface="Bitstream Charter"/>
              </a:rPr>
              <a:t>Volunteer availability follows recyclable value</a:t>
            </a:r>
          </a:p>
        </p:txBody>
      </p:sp>
      <p:sp>
        <p:nvSpPr>
          <p:cNvPr id="3" name="">
            <a:extLst xmlns:a="http://schemas.openxmlformats.org/drawingml/2006/main">
              <a:ext uri="{FF2B5EF4-FFF2-40B4-BE49-F238E27FC236}">
                <a16:creationId xmlns:a16="http://schemas.microsoft.com/office/drawing/2014/main" id="{1E708CAC-35E8-48AF-853C-4D2C13B9507A}"/>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A8BDB4"/>
                </a:solidFill>
                <a:latin typeface="Bitstream Charter"/>
                <a:ea typeface="Bitstream Charter"/>
                <a:cs typeface="Bitstream Charter"/>
              </a:defRPr>
            </a:pPr>
            <a:r>
              <a:rPr sz="1050" b="0">
                <a:solidFill>
                  <a:srgbClr val="A8BDB4"/>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BDB12465-7B73-43D6-A468-AE93A8B35111}"/>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D1E880"/>
                </a:solidFill>
                <a:latin typeface="Bitstream Charter"/>
                <a:ea typeface="Bitstream Charter"/>
                <a:cs typeface="Bitstream Charter"/>
              </a:defRPr>
            </a:pPr>
            <a:r>
              <a:rPr sz="1500" b="1">
                <a:solidFill>
                  <a:srgbClr val="D1E880"/>
                </a:solidFill>
                <a:latin typeface="Bitstream Charter"/>
                <a:ea typeface="Bitstream Charter"/>
                <a:cs typeface="Bitstream Charter"/>
              </a:rPr>
              <a:t>08</a:t>
            </a:r>
          </a:p>
        </p:txBody>
      </p:sp>
      <p:sp>
        <p:nvSpPr>
          <p:cNvPr id="5" name="">
            <a:extLst xmlns:a="http://schemas.openxmlformats.org/drawingml/2006/main">
              <a:ext uri="{FF2B5EF4-FFF2-40B4-BE49-F238E27FC236}">
                <a16:creationId xmlns:a16="http://schemas.microsoft.com/office/drawing/2014/main" id="{A353E4BD-1F60-418E-B894-A9BBAC819CC4}"/>
              </a:ext>
            </a:extLst>
          </p:cNvPr>
          <p:cNvSpPr>
            <a:spLocks xmlns:a="http://schemas.openxmlformats.org/drawingml/2006/main" noGrp="1"/>
          </p:cNvSpPr>
          <p:nvPr/>
        </p:nvSpPr>
        <p:spPr>
          <a:xfrm xmlns:a="http://schemas.openxmlformats.org/drawingml/2006/main">
            <a:off x="609600" y="2266950"/>
            <a:ext cx="5238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D1E880"/>
                </a:solidFill>
                <a:latin typeface="Bitstream Charter"/>
                <a:ea typeface="Bitstream Charter"/>
                <a:cs typeface="Bitstream Charter"/>
              </a:defRPr>
            </a:pPr>
            <a:r>
              <a:rPr sz="2775" b="1">
                <a:solidFill>
                  <a:srgbClr val="D1E880"/>
                </a:solidFill>
                <a:latin typeface="Bitstream Charter"/>
                <a:ea typeface="Bitstream Charter"/>
                <a:cs typeface="Bitstream Charter"/>
              </a:rPr>
              <a:t>Recyclable-rich routes</a:t>
            </a:r>
          </a:p>
        </p:txBody>
      </p:sp>
      <p:sp>
        <p:nvSpPr>
          <p:cNvPr id="6" name="">
            <a:extLst xmlns:a="http://schemas.openxmlformats.org/drawingml/2006/main">
              <a:ext uri="{FF2B5EF4-FFF2-40B4-BE49-F238E27FC236}">
                <a16:creationId xmlns:a16="http://schemas.microsoft.com/office/drawing/2014/main" id="{AD67B3EB-8A90-4FC4-A91D-5FA4A1DC943F}"/>
              </a:ext>
            </a:extLst>
          </p:cNvPr>
          <p:cNvSpPr>
            <a:spLocks xmlns:a="http://schemas.openxmlformats.org/drawingml/2006/main" noGrp="1"/>
          </p:cNvSpPr>
          <p:nvPr/>
        </p:nvSpPr>
        <p:spPr>
          <a:xfrm xmlns:a="http://schemas.openxmlformats.org/drawingml/2006/main">
            <a:off x="609600" y="3114675"/>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1E9"/>
                </a:solidFill>
                <a:latin typeface="Bitstream Charter"/>
                <a:ea typeface="Bitstream Charter"/>
                <a:cs typeface="Bitstream Charter"/>
              </a:defRPr>
            </a:pPr>
            <a:r>
              <a:rPr sz="2325" b="0">
                <a:solidFill>
                  <a:srgbClr val="F4F1E9"/>
                </a:solidFill>
                <a:latin typeface="Bitstream Charter"/>
                <a:ea typeface="Bitstream Charter"/>
                <a:cs typeface="Bitstream Charter"/>
              </a:rPr>
              <a:t>More opportunity to earn</a:t>
            </a:r>
          </a:p>
          <a:p xmlns:a="http://schemas.openxmlformats.org/drawingml/2006/main">
            <a:pPr>
              <a:buNone/>
              <a:defRPr sz="2325" b="0">
                <a:solidFill>
                  <a:srgbClr val="F4F1E9"/>
                </a:solidFill>
                <a:latin typeface="Bitstream Charter"/>
                <a:ea typeface="Bitstream Charter"/>
                <a:cs typeface="Bitstream Charter"/>
              </a:defRPr>
            </a:pPr>
            <a:r>
              <a:rPr sz="2325" b="0">
                <a:solidFill>
                  <a:srgbClr val="F4F1E9"/>
                </a:solidFill>
                <a:latin typeface="Bitstream Charter"/>
                <a:ea typeface="Bitstream Charter"/>
                <a:cs typeface="Bitstream Charter"/>
              </a:rPr>
              <a:t>from recovered materials</a:t>
            </a:r>
          </a:p>
        </p:txBody>
      </p:sp>
      <p:sp>
        <p:nvSpPr>
          <p:cNvPr id="7" name="">
            <a:extLst xmlns:a="http://schemas.openxmlformats.org/drawingml/2006/main">
              <a:ext uri="{FF2B5EF4-FFF2-40B4-BE49-F238E27FC236}">
                <a16:creationId xmlns:a16="http://schemas.microsoft.com/office/drawing/2014/main" id="{7E47247B-DD69-4B64-A77D-7648E5907C75}"/>
              </a:ext>
            </a:extLst>
          </p:cNvPr>
          <p:cNvSpPr>
            <a:spLocks xmlns:a="http://schemas.openxmlformats.org/drawingml/2006/main" noGrp="1"/>
          </p:cNvSpPr>
          <p:nvPr/>
        </p:nvSpPr>
        <p:spPr>
          <a:xfrm xmlns:a="http://schemas.openxmlformats.org/drawingml/2006/main">
            <a:off x="6534150" y="2266950"/>
            <a:ext cx="5048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D1E880"/>
                </a:solidFill>
                <a:latin typeface="Bitstream Charter"/>
                <a:ea typeface="Bitstream Charter"/>
                <a:cs typeface="Bitstream Charter"/>
              </a:defRPr>
            </a:pPr>
            <a:r>
              <a:rPr sz="2775" b="1">
                <a:solidFill>
                  <a:srgbClr val="D1E880"/>
                </a:solidFill>
                <a:latin typeface="Bitstream Charter"/>
                <a:ea typeface="Bitstream Charter"/>
                <a:cs typeface="Bitstream Charter"/>
              </a:rPr>
              <a:t>Food-waste routes</a:t>
            </a:r>
          </a:p>
        </p:txBody>
      </p:sp>
      <p:sp>
        <p:nvSpPr>
          <p:cNvPr id="8" name="">
            <a:extLst xmlns:a="http://schemas.openxmlformats.org/drawingml/2006/main">
              <a:ext uri="{FF2B5EF4-FFF2-40B4-BE49-F238E27FC236}">
                <a16:creationId xmlns:a16="http://schemas.microsoft.com/office/drawing/2014/main" id="{7EC29B86-5B9F-4B51-8432-F01CE5046657}"/>
              </a:ext>
            </a:extLst>
          </p:cNvPr>
          <p:cNvSpPr>
            <a:spLocks xmlns:a="http://schemas.openxmlformats.org/drawingml/2006/main" noGrp="1"/>
          </p:cNvSpPr>
          <p:nvPr/>
        </p:nvSpPr>
        <p:spPr>
          <a:xfrm xmlns:a="http://schemas.openxmlformats.org/drawingml/2006/main">
            <a:off x="6534150" y="3114675"/>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1E9"/>
                </a:solidFill>
                <a:latin typeface="Bitstream Charter"/>
                <a:ea typeface="Bitstream Charter"/>
                <a:cs typeface="Bitstream Charter"/>
              </a:defRPr>
            </a:pPr>
            <a:r>
              <a:rPr sz="2325" b="0">
                <a:solidFill>
                  <a:srgbClr val="F4F1E9"/>
                </a:solidFill>
                <a:latin typeface="Bitstream Charter"/>
                <a:ea typeface="Bitstream Charter"/>
                <a:cs typeface="Bitstream Charter"/>
              </a:rPr>
              <a:t>Less incentive for volunteers</a:t>
            </a:r>
          </a:p>
          <a:p xmlns:a="http://schemas.openxmlformats.org/drawingml/2006/main">
            <a:pPr>
              <a:buNone/>
              <a:defRPr sz="2325" b="0">
                <a:solidFill>
                  <a:srgbClr val="F4F1E9"/>
                </a:solidFill>
                <a:latin typeface="Bitstream Charter"/>
                <a:ea typeface="Bitstream Charter"/>
                <a:cs typeface="Bitstream Charter"/>
              </a:defRPr>
            </a:pPr>
            <a:r>
              <a:rPr sz="2325" b="0">
                <a:solidFill>
                  <a:srgbClr val="F4F1E9"/>
                </a:solidFill>
                <a:latin typeface="Bitstream Charter"/>
                <a:ea typeface="Bitstream Charter"/>
                <a:cs typeface="Bitstream Charter"/>
              </a:rPr>
              <a:t>to join the collection crew</a:t>
            </a:r>
          </a:p>
        </p:txBody>
      </p:sp>
      <p:sp>
        <p:nvSpPr>
          <p:cNvPr id="9" name="">
            <a:extLst xmlns:a="http://schemas.openxmlformats.org/drawingml/2006/main">
              <a:ext uri="{FF2B5EF4-FFF2-40B4-BE49-F238E27FC236}">
                <a16:creationId xmlns:a16="http://schemas.microsoft.com/office/drawing/2014/main" id="{68F663B0-6B21-47FA-8F90-85CBEB40A722}"/>
              </a:ext>
            </a:extLst>
          </p:cNvPr>
          <p:cNvSpPr>
            <a:spLocks xmlns:a="http://schemas.openxmlformats.org/drawingml/2006/main" noGrp="1"/>
          </p:cNvSpPr>
          <p:nvPr/>
        </p:nvSpPr>
        <p:spPr>
          <a:xfrm xmlns:a="http://schemas.openxmlformats.org/drawingml/2006/main">
            <a:off x="609600" y="49815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F4F1E9"/>
                </a:solidFill>
                <a:latin typeface="Bitstream Charter"/>
                <a:ea typeface="Bitstream Charter"/>
                <a:cs typeface="Bitstream Charter"/>
              </a:defRPr>
            </a:pPr>
            <a:r>
              <a:rPr sz="2925" b="1">
                <a:solidFill>
                  <a:srgbClr val="F4F1E9"/>
                </a:solidFill>
                <a:latin typeface="Bitstream Charter"/>
                <a:ea typeface="Bitstream Charter"/>
                <a:cs typeface="Bitstream Charter"/>
              </a:rPr>
              <a:t>Faster collection still needs dependable labor.</a:t>
            </a:r>
          </a:p>
        </p:txBody>
      </p:sp>
      <p:sp>
        <p:nvSpPr>
          <p:cNvPr id="10" name="">
            <a:extLst xmlns:a="http://schemas.openxmlformats.org/drawingml/2006/main">
              <a:ext uri="{FF2B5EF4-FFF2-40B4-BE49-F238E27FC236}">
                <a16:creationId xmlns:a16="http://schemas.microsoft.com/office/drawing/2014/main" id="{3392B320-07F6-4C5E-A9E5-0E5FDA63418D}"/>
              </a:ext>
            </a:extLst>
          </p:cNvPr>
          <p:cNvSpPr>
            <a:spLocks xmlns:a="http://schemas.openxmlformats.org/drawingml/2006/main" noGrp="1"/>
          </p:cNvSpPr>
          <p:nvPr/>
        </p:nvSpPr>
        <p:spPr>
          <a:xfrm xmlns:a="http://schemas.openxmlformats.org/drawingml/2006/main">
            <a:off x="609600" y="57435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CD0C4"/>
                </a:solidFill>
                <a:latin typeface="Bitstream Charter"/>
                <a:ea typeface="Bitstream Charter"/>
                <a:cs typeface="Bitstream Charter"/>
              </a:defRPr>
            </a:pPr>
            <a:r>
              <a:rPr sz="1875" b="0">
                <a:solidFill>
                  <a:srgbClr val="BCD0C4"/>
                </a:solidFill>
                <a:latin typeface="Bitstream Charter"/>
                <a:ea typeface="Bitstream Charter"/>
                <a:cs typeface="Bitstream Charter"/>
              </a:rPr>
              <a:t>Removing onboard recovery could also reduce volunteer participation.</a:t>
            </a:r>
          </a:p>
        </p:txBody>
      </p:sp>
    </p:spTree>
    <p:extLst>
      <p:ext uri="{BB962C8B-B14F-4D97-AF65-F5344CB8AC3E}">
        <p14:creationId xmlns:p14="http://schemas.microsoft.com/office/powerpoint/2010/main" val="788560434"/>
      </p:ext>
    </p:extLst>
  </p:cSld>
</p:sld>
</file>

<file path=ppt/slides/slide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936C1E-FC0B-4D1D-826B-A5A4D111D5C7}"/>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2F7660"/>
                </a:solidFill>
                <a:latin typeface="Bitstream Charter"/>
                <a:ea typeface="Bitstream Charter"/>
                <a:cs typeface="Bitstream Charter"/>
              </a:defRPr>
            </a:pPr>
            <a:r>
              <a:rPr sz="1275" b="1">
                <a:solidFill>
                  <a:srgbClr val="2F7660"/>
                </a:solidFill>
                <a:latin typeface="Bitstream Charter"/>
                <a:ea typeface="Bitstream Charter"/>
                <a:cs typeface="Bitstream Charter"/>
              </a:rPr>
              <a:t>08  /  SCHEDULING EVIDENCE</a:t>
            </a:r>
          </a:p>
        </p:txBody>
      </p:sp>
      <p:sp>
        <p:nvSpPr>
          <p:cNvPr id="2" name="">
            <a:extLst xmlns:a="http://schemas.openxmlformats.org/drawingml/2006/main">
              <a:ext uri="{FF2B5EF4-FFF2-40B4-BE49-F238E27FC236}">
                <a16:creationId xmlns:a16="http://schemas.microsoft.com/office/drawing/2014/main" id="{D7B6D8CC-D769-48C8-A856-DAEACA5D8DEE}"/>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163C33"/>
                </a:solidFill>
                <a:latin typeface="Bitstream Charter"/>
                <a:ea typeface="Bitstream Charter"/>
                <a:cs typeface="Bitstream Charter"/>
              </a:defRPr>
            </a:pPr>
            <a:r>
              <a:rPr sz="3525" b="1">
                <a:solidFill>
                  <a:srgbClr val="163C33"/>
                </a:solidFill>
                <a:latin typeface="Bitstream Charter"/>
                <a:ea typeface="Bitstream Charter"/>
                <a:cs typeface="Bitstream Charter"/>
              </a:rPr>
              <a:t>Tuba logs show movement but not enough context</a:t>
            </a:r>
          </a:p>
        </p:txBody>
      </p:sp>
      <p:sp>
        <p:nvSpPr>
          <p:cNvPr id="3" name="">
            <a:extLst xmlns:a="http://schemas.openxmlformats.org/drawingml/2006/main">
              <a:ext uri="{FF2B5EF4-FFF2-40B4-BE49-F238E27FC236}">
                <a16:creationId xmlns:a16="http://schemas.microsoft.com/office/drawing/2014/main" id="{E92C3878-FEF8-4917-B286-F44BDDF54CA0}"/>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607169"/>
                </a:solidFill>
                <a:latin typeface="Bitstream Charter"/>
                <a:ea typeface="Bitstream Charter"/>
                <a:cs typeface="Bitstream Charter"/>
              </a:defRPr>
            </a:pPr>
            <a:r>
              <a:rPr sz="1050" b="0">
                <a:solidFill>
                  <a:srgbClr val="607169"/>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2E4760A5-0717-4828-AEB0-ED0788FAD887}"/>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2F7660"/>
                </a:solidFill>
                <a:latin typeface="Bitstream Charter"/>
                <a:ea typeface="Bitstream Charter"/>
                <a:cs typeface="Bitstream Charter"/>
              </a:defRPr>
            </a:pPr>
            <a:r>
              <a:rPr sz="1500" b="1">
                <a:solidFill>
                  <a:srgbClr val="2F7660"/>
                </a:solidFill>
                <a:latin typeface="Bitstream Charter"/>
                <a:ea typeface="Bitstream Charter"/>
                <a:cs typeface="Bitstream Charter"/>
              </a:rPr>
              <a:t>09</a:t>
            </a:r>
          </a:p>
        </p:txBody>
      </p:sp>
      <p:graphicFrame>
        <p:nvGraphicFramePr>
          <p:cNvPr id="11" name="">
            <a:extLst xmlns:a="http://schemas.openxmlformats.org/drawingml/2006/main">
              <a:ext uri="{FF2B5EF4-FFF2-40B4-BE49-F238E27FC236}">
                <a16:creationId xmlns:a16="http://schemas.microsoft.com/office/drawing/2014/main" id="{7E984D5E-1394-457E-B771-7D984B1D2812}"/>
              </a:ext>
            </a:extLst>
          </p:cNvPr>
          <p:cNvGraphicFramePr/>
          <p:nvPr/>
        </p:nvGraphicFramePr>
        <p:xfrm>
          <a:off xmlns:a="http://schemas.openxmlformats.org/drawingml/2006/main" x="609600" y="2143125"/>
          <a:ext xmlns:a="http://schemas.openxmlformats.org/drawingml/2006/main" cx="10972800" cy="3333750"/>
        </p:xfrm>
        <a:graphic xmlns:a="http://schemas.openxmlformats.org/drawingml/2006/main">
          <a:graphicData uri="http://schemas.openxmlformats.org/drawingml/2006/table">
            <a:tbl>
              <a:tblPr/>
              <a:tblGrid>
                <a:gridCol w="4476750"/>
                <a:gridCol w="6496050"/>
              </a:tblGrid>
              <a:tr h="628650">
                <a:tc>
                  <a:txBody>
                    <a:bodyPr/>
                    <a:lstStyle/>
                    <a:p>
                      <a:r>
                        <a:rPr sz="1575" b="1">
                          <a:solidFill>
                            <a:srgbClr val="F4F1E9"/>
                          </a:solidFill>
                          <a:latin typeface="Bitstream Charter"/>
                          <a:ea typeface="Bitstream Charter"/>
                          <a:cs typeface="Bitstream Charter"/>
                        </a:rPr>
                        <a:t>Current evidence</a:t>
                      </a:r>
                    </a:p>
                  </a:txBody>
                  <a:tcPr marL="171450" marR="171450" marT="152400" marB="152400" anchor="ctr">
                    <a:solidFill>
                      <a:srgbClr val="163C33"/>
                    </a:solidFill>
                  </a:tcPr>
                </a:tc>
                <a:tc>
                  <a:txBody>
                    <a:bodyPr/>
                    <a:lstStyle/>
                    <a:p>
                      <a:r>
                        <a:rPr sz="1575" b="1">
                          <a:solidFill>
                            <a:srgbClr val="F4F1E9"/>
                          </a:solidFill>
                          <a:latin typeface="Bitstream Charter"/>
                          <a:ea typeface="Bitstream Charter"/>
                          <a:cs typeface="Bitstream Charter"/>
                        </a:rPr>
                        <a:t>Missing detail for workload planning</a:t>
                      </a:r>
                    </a:p>
                  </a:txBody>
                  <a:tcPr marL="171450" marR="171450" marT="152400" marB="152400" anchor="ctr">
                    <a:solidFill>
                      <a:srgbClr val="163C33"/>
                    </a:solidFill>
                  </a:tcPr>
                </a:tc>
              </a:tr>
              <a:tr h="901700">
                <a:tc>
                  <a:txBody>
                    <a:bodyPr/>
                    <a:lstStyle/>
                    <a:p>
                      <a:r>
                        <a:rPr sz="1800">
                          <a:solidFill>
                            <a:srgbClr val="163C33"/>
                          </a:solidFill>
                          <a:latin typeface="Bitstream Charter"/>
                          <a:ea typeface="Bitstream Charter"/>
                          <a:cs typeface="Bitstream Charter"/>
                        </a:rPr>
                        <a:t>Truck entry and exit</a:t>
                      </a:r>
                    </a:p>
                  </a:txBody>
                  <a:tcPr marL="171450" marR="171450" marT="152400" marB="152400" anchor="ctr">
                    <a:solidFill>
                      <a:srgbClr val="E5E9DF"/>
                    </a:solidFill>
                  </a:tcPr>
                </a:tc>
                <a:tc>
                  <a:txBody>
                    <a:bodyPr/>
                    <a:lstStyle/>
                    <a:p>
                      <a:r>
                        <a:rPr sz="1800">
                          <a:solidFill>
                            <a:srgbClr val="163C33"/>
                          </a:solidFill>
                          <a:latin typeface="Bitstream Charter"/>
                          <a:ea typeface="Bitstream Charter"/>
                          <a:cs typeface="Bitstream Charter"/>
                        </a:rPr>
                        <a:t>Sites completed, trip purpose and backlog outcome</a:t>
                      </a:r>
                    </a:p>
                  </a:txBody>
                  <a:tcPr marL="171450" marR="171450" marT="152400" marB="152400" anchor="ctr">
                    <a:solidFill>
                      <a:srgbClr val="E5E9DF"/>
                    </a:solidFill>
                  </a:tcPr>
                </a:tc>
              </a:tr>
              <a:tr h="901700">
                <a:tc>
                  <a:txBody>
                    <a:bodyPr/>
                    <a:lstStyle/>
                    <a:p>
                      <a:r>
                        <a:rPr sz="1800">
                          <a:solidFill>
                            <a:srgbClr val="163C33"/>
                          </a:solidFill>
                          <a:latin typeface="Bitstream Charter"/>
                          <a:ea typeface="Bitstream Charter"/>
                          <a:cs typeface="Bitstream Charter"/>
                        </a:rPr>
                        <a:t>Calls, messages and verbal reports</a:t>
                      </a:r>
                    </a:p>
                  </a:txBody>
                  <a:tcPr marL="171450" marR="171450" marT="152400" marB="152400" anchor="ctr">
                    <a:solidFill>
                      <a:srgbClr val="EDF0E7"/>
                    </a:solidFill>
                  </a:tcPr>
                </a:tc>
                <a:tc>
                  <a:txBody>
                    <a:bodyPr/>
                    <a:lstStyle/>
                    <a:p>
                      <a:r>
                        <a:rPr sz="1800">
                          <a:solidFill>
                            <a:srgbClr val="163C33"/>
                          </a:solidFill>
                          <a:latin typeface="Bitstream Charter"/>
                          <a:ea typeface="Bitstream Charter"/>
                          <a:cs typeface="Bitstream Charter"/>
                        </a:rPr>
                        <a:t>Consistent reasons for delays and reassignment</a:t>
                      </a:r>
                    </a:p>
                  </a:txBody>
                  <a:tcPr marL="171450" marR="171450" marT="152400" marB="152400" anchor="ctr">
                    <a:solidFill>
                      <a:srgbClr val="EDF0E7"/>
                    </a:solidFill>
                  </a:tcPr>
                </a:tc>
              </a:tr>
              <a:tr h="901700">
                <a:tc>
                  <a:txBody>
                    <a:bodyPr/>
                    <a:lstStyle/>
                    <a:p>
                      <a:r>
                        <a:rPr sz="1800">
                          <a:solidFill>
                            <a:srgbClr val="163C33"/>
                          </a:solidFill>
                          <a:latin typeface="Bitstream Charter"/>
                          <a:ea typeface="Bitstream Charter"/>
                          <a:cs typeface="Bitstream Charter"/>
                        </a:rPr>
                        <a:t>Annual records and map proximity</a:t>
                      </a:r>
                    </a:p>
                  </a:txBody>
                  <a:tcPr marL="171450" marR="171450" marT="152400" marB="152400" anchor="ctr">
                    <a:solidFill>
                      <a:srgbClr val="E5E9DF"/>
                    </a:solidFill>
                  </a:tcPr>
                </a:tc>
                <a:tc>
                  <a:txBody>
                    <a:bodyPr/>
                    <a:lstStyle/>
                    <a:p>
                      <a:r>
                        <a:rPr sz="1800">
                          <a:solidFill>
                            <a:srgbClr val="163C33"/>
                          </a:solidFill>
                          <a:latin typeface="Bitstream Charter"/>
                          <a:ea typeface="Bitstream Charter"/>
                          <a:cs typeface="Bitstream Charter"/>
                        </a:rPr>
                        <a:t>Crew availability, service time and changing demand</a:t>
                      </a:r>
                    </a:p>
                  </a:txBody>
                  <a:tcPr marL="171450" marR="171450" marT="152400" marB="152400" anchor="ctr">
                    <a:solidFill>
                      <a:srgbClr val="E5E9DF"/>
                    </a:solidFill>
                  </a:tcPr>
                </a:tc>
              </a:tr>
            </a:tbl>
          </a:graphicData>
        </a:graphic>
      </p:graphicFrame>
      <p:sp>
        <p:nvSpPr>
          <p:cNvPr id="6" name="">
            <a:extLst xmlns:a="http://schemas.openxmlformats.org/drawingml/2006/main">
              <a:ext uri="{FF2B5EF4-FFF2-40B4-BE49-F238E27FC236}">
                <a16:creationId xmlns:a16="http://schemas.microsoft.com/office/drawing/2014/main" id="{5A3993CB-A157-4DEF-A737-462B793E0E6D}"/>
              </a:ext>
            </a:extLst>
          </p:cNvPr>
          <p:cNvSpPr>
            <a:spLocks xmlns:a="http://schemas.openxmlformats.org/drawingml/2006/main" noGrp="1"/>
          </p:cNvSpPr>
          <p:nvPr/>
        </p:nvSpPr>
        <p:spPr>
          <a:xfrm xmlns:a="http://schemas.openxmlformats.org/drawingml/2006/main">
            <a:off x="609600" y="57531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2F7660"/>
                </a:solidFill>
                <a:latin typeface="Bitstream Charter"/>
                <a:ea typeface="Bitstream Charter"/>
                <a:cs typeface="Bitstream Charter"/>
              </a:defRPr>
            </a:pPr>
            <a:r>
              <a:rPr sz="2025" b="1">
                <a:solidFill>
                  <a:srgbClr val="2F7660"/>
                </a:solidFill>
                <a:latin typeface="Bitstream Charter"/>
                <a:ea typeface="Bitstream Charter"/>
                <a:cs typeface="Bitstream Charter"/>
              </a:rPr>
              <a:t>A shared trip record would connect daily work to scheduling decisions.</a:t>
            </a:r>
          </a:p>
        </p:txBody>
      </p:sp>
    </p:spTree>
    <p:extLst>
      <p:ext uri="{BB962C8B-B14F-4D97-AF65-F5344CB8AC3E}">
        <p14:creationId xmlns:p14="http://schemas.microsoft.com/office/powerpoint/2010/main" val="1609335470"/>
      </p:ext>
    </p:extLst>
  </p:cSld>
</p:sld>
</file>

<file path=ppt/slides/slide1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8D61D94-0A3B-4674-A191-04E7E9D28753}"/>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2F7660"/>
                </a:solidFill>
                <a:latin typeface="Bitstream Charter"/>
                <a:ea typeface="Bitstream Charter"/>
                <a:cs typeface="Bitstream Charter"/>
              </a:defRPr>
            </a:pPr>
            <a:r>
              <a:rPr sz="1275" b="1">
                <a:solidFill>
                  <a:srgbClr val="2F7660"/>
                </a:solidFill>
                <a:latin typeface="Bitstream Charter"/>
                <a:ea typeface="Bitstream Charter"/>
                <a:cs typeface="Bitstream Charter"/>
              </a:rPr>
              <a:t>09  /  TWO-SHIFT PROPOSAL</a:t>
            </a:r>
          </a:p>
        </p:txBody>
      </p:sp>
      <p:sp>
        <p:nvSpPr>
          <p:cNvPr id="2" name="">
            <a:extLst xmlns:a="http://schemas.openxmlformats.org/drawingml/2006/main">
              <a:ext uri="{FF2B5EF4-FFF2-40B4-BE49-F238E27FC236}">
                <a16:creationId xmlns:a16="http://schemas.microsoft.com/office/drawing/2014/main" id="{C7A20369-6C23-44E4-89C4-E44C4E68F3F5}"/>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163C33"/>
                </a:solidFill>
                <a:latin typeface="Bitstream Charter"/>
                <a:ea typeface="Bitstream Charter"/>
                <a:cs typeface="Bitstream Charter"/>
              </a:defRPr>
            </a:pPr>
            <a:r>
              <a:rPr sz="3525" b="1">
                <a:solidFill>
                  <a:srgbClr val="163C33"/>
                </a:solidFill>
                <a:latin typeface="Bitstream Charter"/>
                <a:ea typeface="Bitstream Charter"/>
                <a:cs typeface="Bitstream Charter"/>
              </a:rPr>
              <a:t>The benefit of a second shift remains unmeasured</a:t>
            </a:r>
          </a:p>
        </p:txBody>
      </p:sp>
      <p:sp>
        <p:nvSpPr>
          <p:cNvPr id="3" name="">
            <a:extLst xmlns:a="http://schemas.openxmlformats.org/drawingml/2006/main">
              <a:ext uri="{FF2B5EF4-FFF2-40B4-BE49-F238E27FC236}">
                <a16:creationId xmlns:a16="http://schemas.microsoft.com/office/drawing/2014/main" id="{4DF29FCB-A4C6-46E5-9B09-FC842095F52F}"/>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607169"/>
                </a:solidFill>
                <a:latin typeface="Bitstream Charter"/>
                <a:ea typeface="Bitstream Charter"/>
                <a:cs typeface="Bitstream Charter"/>
              </a:defRPr>
            </a:pPr>
            <a:r>
              <a:rPr sz="1050" b="0">
                <a:solidFill>
                  <a:srgbClr val="607169"/>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51FF56B8-6292-4DCD-9AE0-C76AA799D153}"/>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2F7660"/>
                </a:solidFill>
                <a:latin typeface="Bitstream Charter"/>
                <a:ea typeface="Bitstream Charter"/>
                <a:cs typeface="Bitstream Charter"/>
              </a:defRPr>
            </a:pPr>
            <a:r>
              <a:rPr sz="1500" b="1">
                <a:solidFill>
                  <a:srgbClr val="2F7660"/>
                </a:solidFill>
                <a:latin typeface="Bitstream Charter"/>
                <a:ea typeface="Bitstream Charter"/>
                <a:cs typeface="Bitstream Charter"/>
              </a:rPr>
              <a:t>10</a:t>
            </a:r>
          </a:p>
        </p:txBody>
      </p:sp>
      <p:sp>
        <p:nvSpPr>
          <p:cNvPr id="5" name="">
            <a:extLst xmlns:a="http://schemas.openxmlformats.org/drawingml/2006/main">
              <a:ext uri="{FF2B5EF4-FFF2-40B4-BE49-F238E27FC236}">
                <a16:creationId xmlns:a16="http://schemas.microsoft.com/office/drawing/2014/main" id="{80BE244C-15FE-40BF-AFC8-E434F8FCDB77}"/>
              </a:ext>
            </a:extLst>
          </p:cNvPr>
          <p:cNvSpPr>
            <a:spLocks xmlns:a="http://schemas.openxmlformats.org/drawingml/2006/main" noGrp="1"/>
          </p:cNvSpPr>
          <p:nvPr/>
        </p:nvSpPr>
        <p:spPr>
          <a:xfrm xmlns:a="http://schemas.openxmlformats.org/drawingml/2006/main">
            <a:off x="609600" y="2266950"/>
            <a:ext cx="514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2F7660"/>
                </a:solidFill>
                <a:latin typeface="Bitstream Charter"/>
                <a:ea typeface="Bitstream Charter"/>
                <a:cs typeface="Bitstream Charter"/>
              </a:defRPr>
            </a:pPr>
            <a:r>
              <a:rPr sz="2775" b="1">
                <a:solidFill>
                  <a:srgbClr val="2F7660"/>
                </a:solidFill>
                <a:latin typeface="Bitstream Charter"/>
                <a:ea typeface="Bitstream Charter"/>
                <a:cs typeface="Bitstream Charter"/>
              </a:rPr>
              <a:t>GSO perspective</a:t>
            </a:r>
          </a:p>
        </p:txBody>
      </p:sp>
      <p:sp>
        <p:nvSpPr>
          <p:cNvPr id="6" name="">
            <a:extLst xmlns:a="http://schemas.openxmlformats.org/drawingml/2006/main">
              <a:ext uri="{FF2B5EF4-FFF2-40B4-BE49-F238E27FC236}">
                <a16:creationId xmlns:a16="http://schemas.microsoft.com/office/drawing/2014/main" id="{CB626511-2E93-4506-AE8C-1FEBA197AC4D}"/>
              </a:ext>
            </a:extLst>
          </p:cNvPr>
          <p:cNvSpPr>
            <a:spLocks xmlns:a="http://schemas.openxmlformats.org/drawingml/2006/main" noGrp="1"/>
          </p:cNvSpPr>
          <p:nvPr/>
        </p:nvSpPr>
        <p:spPr>
          <a:xfrm xmlns:a="http://schemas.openxmlformats.org/drawingml/2006/main">
            <a:off x="609600" y="3124200"/>
            <a:ext cx="4953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63C33"/>
                </a:solidFill>
                <a:latin typeface="Bitstream Charter"/>
                <a:ea typeface="Bitstream Charter"/>
                <a:cs typeface="Bitstream Charter"/>
              </a:defRPr>
            </a:pPr>
            <a:r>
              <a:rPr sz="2325" b="0">
                <a:solidFill>
                  <a:srgbClr val="163C33"/>
                </a:solidFill>
                <a:latin typeface="Bitstream Charter"/>
                <a:ea typeface="Bitstream Charter"/>
                <a:cs typeface="Bitstream Charter"/>
              </a:rPr>
              <a:t>Rush-hour traffic may limit</a:t>
            </a:r>
          </a:p>
          <a:p xmlns:a="http://schemas.openxmlformats.org/drawingml/2006/main">
            <a:pPr>
              <a:buNone/>
              <a:defRPr sz="2325" b="0">
                <a:solidFill>
                  <a:srgbClr val="163C33"/>
                </a:solidFill>
                <a:latin typeface="Bitstream Charter"/>
                <a:ea typeface="Bitstream Charter"/>
                <a:cs typeface="Bitstream Charter"/>
              </a:defRPr>
            </a:pPr>
            <a:r>
              <a:rPr sz="2325" b="0">
                <a:solidFill>
                  <a:srgbClr val="163C33"/>
                </a:solidFill>
                <a:latin typeface="Bitstream Charter"/>
                <a:ea typeface="Bitstream Charter"/>
                <a:cs typeface="Bitstream Charter"/>
              </a:rPr>
              <a:t>the added collection output.</a:t>
            </a:r>
          </a:p>
        </p:txBody>
      </p:sp>
      <p:sp>
        <p:nvSpPr>
          <p:cNvPr id="7" name="">
            <a:extLst xmlns:a="http://schemas.openxmlformats.org/drawingml/2006/main">
              <a:ext uri="{FF2B5EF4-FFF2-40B4-BE49-F238E27FC236}">
                <a16:creationId xmlns:a16="http://schemas.microsoft.com/office/drawing/2014/main" id="{58E5FDD4-1C3A-436C-A726-C0C6689303AC}"/>
              </a:ext>
            </a:extLst>
          </p:cNvPr>
          <p:cNvSpPr>
            <a:spLocks xmlns:a="http://schemas.openxmlformats.org/drawingml/2006/main" noGrp="1"/>
          </p:cNvSpPr>
          <p:nvPr/>
        </p:nvSpPr>
        <p:spPr>
          <a:xfrm xmlns:a="http://schemas.openxmlformats.org/drawingml/2006/main">
            <a:off x="6534150" y="2266950"/>
            <a:ext cx="5048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2F7660"/>
                </a:solidFill>
                <a:latin typeface="Bitstream Charter"/>
                <a:ea typeface="Bitstream Charter"/>
                <a:cs typeface="Bitstream Charter"/>
              </a:defRPr>
            </a:pPr>
            <a:r>
              <a:rPr sz="2775" b="1">
                <a:solidFill>
                  <a:srgbClr val="2F7660"/>
                </a:solidFill>
                <a:latin typeface="Bitstream Charter"/>
                <a:ea typeface="Bitstream Charter"/>
                <a:cs typeface="Bitstream Charter"/>
              </a:rPr>
              <a:t>Driver perspective</a:t>
            </a:r>
          </a:p>
        </p:txBody>
      </p:sp>
      <p:sp>
        <p:nvSpPr>
          <p:cNvPr id="8" name="">
            <a:extLst xmlns:a="http://schemas.openxmlformats.org/drawingml/2006/main">
              <a:ext uri="{FF2B5EF4-FFF2-40B4-BE49-F238E27FC236}">
                <a16:creationId xmlns:a16="http://schemas.microsoft.com/office/drawing/2014/main" id="{07B9290E-B6D2-4E78-87EB-E098A7596560}"/>
              </a:ext>
            </a:extLst>
          </p:cNvPr>
          <p:cNvSpPr>
            <a:spLocks xmlns:a="http://schemas.openxmlformats.org/drawingml/2006/main" noGrp="1"/>
          </p:cNvSpPr>
          <p:nvPr/>
        </p:nvSpPr>
        <p:spPr>
          <a:xfrm xmlns:a="http://schemas.openxmlformats.org/drawingml/2006/main">
            <a:off x="6534150" y="3124200"/>
            <a:ext cx="5048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63C33"/>
                </a:solidFill>
                <a:latin typeface="Bitstream Charter"/>
                <a:ea typeface="Bitstream Charter"/>
                <a:cs typeface="Bitstream Charter"/>
              </a:defRPr>
            </a:pPr>
            <a:r>
              <a:rPr sz="2325" b="0">
                <a:solidFill>
                  <a:srgbClr val="163C33"/>
                </a:solidFill>
                <a:latin typeface="Bitstream Charter"/>
                <a:ea typeface="Bitstream Charter"/>
                <a:cs typeface="Bitstream Charter"/>
              </a:rPr>
              <a:t>A second shift could help,</a:t>
            </a:r>
          </a:p>
          <a:p xmlns:a="http://schemas.openxmlformats.org/drawingml/2006/main">
            <a:pPr>
              <a:buNone/>
              <a:defRPr sz="2325" b="0">
                <a:solidFill>
                  <a:srgbClr val="163C33"/>
                </a:solidFill>
                <a:latin typeface="Bitstream Charter"/>
                <a:ea typeface="Bitstream Charter"/>
                <a:cs typeface="Bitstream Charter"/>
              </a:defRPr>
            </a:pPr>
            <a:r>
              <a:rPr sz="2325" b="0">
                <a:solidFill>
                  <a:srgbClr val="163C33"/>
                </a:solidFill>
                <a:latin typeface="Bitstream Charter"/>
                <a:ea typeface="Bitstream Charter"/>
                <a:cs typeface="Bitstream Charter"/>
              </a:rPr>
              <a:t>but the size of the gain is unclear.</a:t>
            </a:r>
          </a:p>
        </p:txBody>
      </p:sp>
      <p:sp>
        <p:nvSpPr>
          <p:cNvPr id="9" name="">
            <a:extLst xmlns:a="http://schemas.openxmlformats.org/drawingml/2006/main">
              <a:ext uri="{FF2B5EF4-FFF2-40B4-BE49-F238E27FC236}">
                <a16:creationId xmlns:a16="http://schemas.microsoft.com/office/drawing/2014/main" id="{49751547-02AF-43A1-8CDB-C720E358D3E0}"/>
              </a:ext>
            </a:extLst>
          </p:cNvPr>
          <p:cNvSpPr>
            <a:spLocks xmlns:a="http://schemas.openxmlformats.org/drawingml/2006/main" noGrp="1"/>
          </p:cNvSpPr>
          <p:nvPr/>
        </p:nvSpPr>
        <p:spPr>
          <a:xfrm xmlns:a="http://schemas.openxmlformats.org/drawingml/2006/main">
            <a:off x="609600" y="50768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63C33"/>
                </a:solidFill>
                <a:latin typeface="Bitstream Charter"/>
                <a:ea typeface="Bitstream Charter"/>
                <a:cs typeface="Bitstream Charter"/>
              </a:defRPr>
            </a:pPr>
            <a:r>
              <a:rPr sz="2550" b="1">
                <a:solidFill>
                  <a:srgbClr val="163C33"/>
                </a:solidFill>
                <a:latin typeface="Bitstream Charter"/>
                <a:ea typeface="Bitstream Charter"/>
                <a:cs typeface="Bitstream Charter"/>
              </a:rPr>
              <a:t>A controlled pilot can test output against staffing and operating cost.</a:t>
            </a:r>
          </a:p>
        </p:txBody>
      </p:sp>
    </p:spTree>
    <p:extLst>
      <p:ext uri="{BB962C8B-B14F-4D97-AF65-F5344CB8AC3E}">
        <p14:creationId xmlns:p14="http://schemas.microsoft.com/office/powerpoint/2010/main" val="573173669"/>
      </p:ext>
    </p:extLst>
  </p:cSld>
</p:sld>
</file>

<file path=ppt/slides/slide11.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EC2322-A874-40FD-BDE3-503A3625AF75}"/>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2F7660"/>
                </a:solidFill>
                <a:latin typeface="Bitstream Charter"/>
                <a:ea typeface="Bitstream Charter"/>
                <a:cs typeface="Bitstream Charter"/>
              </a:defRPr>
            </a:pPr>
            <a:r>
              <a:rPr sz="1275" b="1">
                <a:solidFill>
                  <a:srgbClr val="2F7660"/>
                </a:solidFill>
                <a:latin typeface="Bitstream Charter"/>
                <a:ea typeface="Bitstream Charter"/>
                <a:cs typeface="Bitstream Charter"/>
              </a:rPr>
              <a:t>10  /  OPTIONS AND TRADE-OFFS</a:t>
            </a:r>
          </a:p>
        </p:txBody>
      </p:sp>
      <p:sp>
        <p:nvSpPr>
          <p:cNvPr id="2" name="">
            <a:extLst xmlns:a="http://schemas.openxmlformats.org/drawingml/2006/main">
              <a:ext uri="{FF2B5EF4-FFF2-40B4-BE49-F238E27FC236}">
                <a16:creationId xmlns:a16="http://schemas.microsoft.com/office/drawing/2014/main" id="{C20B0B95-B0B7-43B3-9AE5-B1D55EBEE9B8}"/>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163C33"/>
                </a:solidFill>
                <a:latin typeface="Bitstream Charter"/>
                <a:ea typeface="Bitstream Charter"/>
                <a:cs typeface="Bitstream Charter"/>
              </a:defRPr>
            </a:pPr>
            <a:r>
              <a:rPr sz="3525" b="1">
                <a:solidFill>
                  <a:srgbClr val="163C33"/>
                </a:solidFill>
                <a:latin typeface="Bitstream Charter"/>
                <a:ea typeface="Bitstream Charter"/>
                <a:cs typeface="Bitstream Charter"/>
              </a:rPr>
              <a:t>Fleet options require staffing and funding</a:t>
            </a:r>
          </a:p>
        </p:txBody>
      </p:sp>
      <p:sp>
        <p:nvSpPr>
          <p:cNvPr id="3" name="">
            <a:extLst xmlns:a="http://schemas.openxmlformats.org/drawingml/2006/main">
              <a:ext uri="{FF2B5EF4-FFF2-40B4-BE49-F238E27FC236}">
                <a16:creationId xmlns:a16="http://schemas.microsoft.com/office/drawing/2014/main" id="{61C796A9-8FFB-4230-BA24-3B5AC83E7647}"/>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607169"/>
                </a:solidFill>
                <a:latin typeface="Bitstream Charter"/>
                <a:ea typeface="Bitstream Charter"/>
                <a:cs typeface="Bitstream Charter"/>
              </a:defRPr>
            </a:pPr>
            <a:r>
              <a:rPr sz="1050" b="0">
                <a:solidFill>
                  <a:srgbClr val="607169"/>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DBE2964F-2101-4ABC-885D-FFCE87C0BA7F}"/>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2F7660"/>
                </a:solidFill>
                <a:latin typeface="Bitstream Charter"/>
                <a:ea typeface="Bitstream Charter"/>
                <a:cs typeface="Bitstream Charter"/>
              </a:defRPr>
            </a:pPr>
            <a:r>
              <a:rPr sz="1500" b="1">
                <a:solidFill>
                  <a:srgbClr val="2F7660"/>
                </a:solidFill>
                <a:latin typeface="Bitstream Charter"/>
                <a:ea typeface="Bitstream Charter"/>
                <a:cs typeface="Bitstream Charter"/>
              </a:rPr>
              <a:t>11</a:t>
            </a:r>
          </a:p>
        </p:txBody>
      </p:sp>
      <p:graphicFrame>
        <p:nvGraphicFramePr>
          <p:cNvPr id="10" name="">
            <a:extLst xmlns:a="http://schemas.openxmlformats.org/drawingml/2006/main">
              <a:ext uri="{FF2B5EF4-FFF2-40B4-BE49-F238E27FC236}">
                <a16:creationId xmlns:a16="http://schemas.microsoft.com/office/drawing/2014/main" id="{A1CD3533-466B-463B-9BA0-68221803DAA9}"/>
              </a:ext>
            </a:extLst>
          </p:cNvPr>
          <p:cNvGraphicFramePr/>
          <p:nvPr/>
        </p:nvGraphicFramePr>
        <p:xfrm>
          <a:off xmlns:a="http://schemas.openxmlformats.org/drawingml/2006/main" x="609600" y="2047875"/>
          <a:ext xmlns:a="http://schemas.openxmlformats.org/drawingml/2006/main" cx="10972800" cy="3886200"/>
        </p:xfrm>
        <a:graphic xmlns:a="http://schemas.openxmlformats.org/drawingml/2006/main">
          <a:graphicData uri="http://schemas.openxmlformats.org/drawingml/2006/table">
            <a:tbl>
              <a:tblPr/>
              <a:tblGrid>
                <a:gridCol w="3409950"/>
                <a:gridCol w="3648075"/>
                <a:gridCol w="3914775"/>
              </a:tblGrid>
              <a:tr h="628650">
                <a:tc>
                  <a:txBody>
                    <a:bodyPr/>
                    <a:lstStyle/>
                    <a:p>
                      <a:r>
                        <a:rPr sz="1575" b="1">
                          <a:solidFill>
                            <a:srgbClr val="F4F1E9"/>
                          </a:solidFill>
                          <a:latin typeface="Bitstream Charter"/>
                          <a:ea typeface="Bitstream Charter"/>
                          <a:cs typeface="Bitstream Charter"/>
                        </a:rPr>
                        <a:t>Option</a:t>
                      </a:r>
                    </a:p>
                  </a:txBody>
                  <a:tcPr marL="171450" marR="171450" marT="152400" marB="152400" anchor="ctr">
                    <a:solidFill>
                      <a:srgbClr val="163C33"/>
                    </a:solidFill>
                  </a:tcPr>
                </a:tc>
                <a:tc>
                  <a:txBody>
                    <a:bodyPr/>
                    <a:lstStyle/>
                    <a:p>
                      <a:r>
                        <a:rPr sz="1575" b="1">
                          <a:solidFill>
                            <a:srgbClr val="F4F1E9"/>
                          </a:solidFill>
                          <a:latin typeface="Bitstream Charter"/>
                          <a:ea typeface="Bitstream Charter"/>
                          <a:cs typeface="Bitstream Charter"/>
                        </a:rPr>
                        <a:t>Potential gain</a:t>
                      </a:r>
                    </a:p>
                  </a:txBody>
                  <a:tcPr marL="171450" marR="171450" marT="152400" marB="152400" anchor="ctr">
                    <a:solidFill>
                      <a:srgbClr val="163C33"/>
                    </a:solidFill>
                  </a:tcPr>
                </a:tc>
                <a:tc>
                  <a:txBody>
                    <a:bodyPr/>
                    <a:lstStyle/>
                    <a:p>
                      <a:r>
                        <a:rPr sz="1575" b="1">
                          <a:solidFill>
                            <a:srgbClr val="F4F1E9"/>
                          </a:solidFill>
                          <a:latin typeface="Bitstream Charter"/>
                          <a:ea typeface="Bitstream Charter"/>
                          <a:cs typeface="Bitstream Charter"/>
                        </a:rPr>
                        <a:t>What it requires</a:t>
                      </a:r>
                    </a:p>
                  </a:txBody>
                  <a:tcPr marL="171450" marR="171450" marT="152400" marB="152400" anchor="ctr">
                    <a:solidFill>
                      <a:srgbClr val="163C33"/>
                    </a:solidFill>
                  </a:tcPr>
                </a:tc>
              </a:tr>
              <a:tr h="814388">
                <a:tc>
                  <a:txBody>
                    <a:bodyPr/>
                    <a:lstStyle/>
                    <a:p>
                      <a:r>
                        <a:rPr sz="1800">
                          <a:solidFill>
                            <a:srgbClr val="163C33"/>
                          </a:solidFill>
                          <a:latin typeface="Bitstream Charter"/>
                          <a:ea typeface="Bitstream Charter"/>
                          <a:cs typeface="Bitstream Charter"/>
                        </a:rPr>
                        <a:t>Second shift on suitable trucks</a:t>
                      </a:r>
                    </a:p>
                  </a:txBody>
                  <a:tcPr marL="171450" marR="171450" marT="152400" marB="152400" anchor="ctr">
                    <a:solidFill>
                      <a:srgbClr val="E5E9DF"/>
                    </a:solidFill>
                  </a:tcPr>
                </a:tc>
                <a:tc>
                  <a:txBody>
                    <a:bodyPr/>
                    <a:lstStyle/>
                    <a:p>
                      <a:r>
                        <a:rPr sz="1800">
                          <a:solidFill>
                            <a:srgbClr val="163C33"/>
                          </a:solidFill>
                          <a:latin typeface="Bitstream Charter"/>
                          <a:ea typeface="Bitstream Charter"/>
                          <a:cs typeface="Bitstream Charter"/>
                        </a:rPr>
                        <a:t>More hours of collection</a:t>
                      </a:r>
                    </a:p>
                  </a:txBody>
                  <a:tcPr marL="171450" marR="171450" marT="152400" marB="152400" anchor="ctr">
                    <a:solidFill>
                      <a:srgbClr val="E5E9DF"/>
                    </a:solidFill>
                  </a:tcPr>
                </a:tc>
                <a:tc>
                  <a:txBody>
                    <a:bodyPr/>
                    <a:lstStyle/>
                    <a:p>
                      <a:r>
                        <a:rPr sz="1800">
                          <a:solidFill>
                            <a:srgbClr val="163C33"/>
                          </a:solidFill>
                          <a:latin typeface="Bitstream Charter"/>
                          <a:ea typeface="Bitstream Charter"/>
                          <a:cs typeface="Bitstream Charter"/>
                        </a:rPr>
                        <a:t>Separate crews + condition checks</a:t>
                      </a:r>
                    </a:p>
                  </a:txBody>
                  <a:tcPr marL="171450" marR="171450" marT="152400" marB="152400" anchor="ctr">
                    <a:solidFill>
                      <a:srgbClr val="E5E9DF"/>
                    </a:solidFill>
                  </a:tcPr>
                </a:tc>
              </a:tr>
              <a:tr h="814388">
                <a:tc>
                  <a:txBody>
                    <a:bodyPr/>
                    <a:lstStyle/>
                    <a:p>
                      <a:r>
                        <a:rPr sz="1800">
                          <a:solidFill>
                            <a:srgbClr val="163C33"/>
                          </a:solidFill>
                          <a:latin typeface="Bitstream Charter"/>
                          <a:ea typeface="Bitstream Charter"/>
                          <a:cs typeface="Bitstream Charter"/>
                        </a:rPr>
                        <a:t>Additional trucks</a:t>
                      </a:r>
                    </a:p>
                  </a:txBody>
                  <a:tcPr marL="171450" marR="171450" marT="152400" marB="152400" anchor="ctr">
                    <a:solidFill>
                      <a:srgbClr val="EDF0E7"/>
                    </a:solidFill>
                  </a:tcPr>
                </a:tc>
                <a:tc>
                  <a:txBody>
                    <a:bodyPr/>
                    <a:lstStyle/>
                    <a:p>
                      <a:r>
                        <a:rPr sz="1800">
                          <a:solidFill>
                            <a:srgbClr val="163C33"/>
                          </a:solidFill>
                          <a:latin typeface="Bitstream Charter"/>
                          <a:ea typeface="Bitstream Charter"/>
                          <a:cs typeface="Bitstream Charter"/>
                        </a:rPr>
                        <a:t>More collection capacity</a:t>
                      </a:r>
                    </a:p>
                  </a:txBody>
                  <a:tcPr marL="171450" marR="171450" marT="152400" marB="152400" anchor="ctr">
                    <a:solidFill>
                      <a:srgbClr val="EDF0E7"/>
                    </a:solidFill>
                  </a:tcPr>
                </a:tc>
                <a:tc>
                  <a:txBody>
                    <a:bodyPr/>
                    <a:lstStyle/>
                    <a:p>
                      <a:r>
                        <a:rPr sz="1800">
                          <a:solidFill>
                            <a:srgbClr val="163C33"/>
                          </a:solidFill>
                          <a:latin typeface="Bitstream Charter"/>
                          <a:ea typeface="Bitstream Charter"/>
                          <a:cs typeface="Bitstream Charter"/>
                        </a:rPr>
                        <a:t>Additional drivers + collectors</a:t>
                      </a:r>
                    </a:p>
                  </a:txBody>
                  <a:tcPr marL="171450" marR="171450" marT="152400" marB="152400" anchor="ctr">
                    <a:solidFill>
                      <a:srgbClr val="EDF0E7"/>
                    </a:solidFill>
                  </a:tcPr>
                </a:tc>
              </a:tr>
              <a:tr h="814388">
                <a:tc>
                  <a:txBody>
                    <a:bodyPr/>
                    <a:lstStyle/>
                    <a:p>
                      <a:r>
                        <a:rPr sz="1800">
                          <a:solidFill>
                            <a:srgbClr val="163C33"/>
                          </a:solidFill>
                          <a:latin typeface="Bitstream Charter"/>
                          <a:ea typeface="Bitstream Charter"/>
                          <a:cs typeface="Bitstream Charter"/>
                        </a:rPr>
                        <a:t>Replace unreliable trucks</a:t>
                      </a:r>
                    </a:p>
                  </a:txBody>
                  <a:tcPr marL="171450" marR="171450" marT="152400" marB="152400" anchor="ctr">
                    <a:solidFill>
                      <a:srgbClr val="E5E9DF"/>
                    </a:solidFill>
                  </a:tcPr>
                </a:tc>
                <a:tc>
                  <a:txBody>
                    <a:bodyPr/>
                    <a:lstStyle/>
                    <a:p>
                      <a:r>
                        <a:rPr sz="1800">
                          <a:solidFill>
                            <a:srgbClr val="163C33"/>
                          </a:solidFill>
                          <a:latin typeface="Bitstream Charter"/>
                          <a:ea typeface="Bitstream Charter"/>
                          <a:cs typeface="Bitstream Charter"/>
                        </a:rPr>
                        <a:t>Less downtime</a:t>
                      </a:r>
                    </a:p>
                  </a:txBody>
                  <a:tcPr marL="171450" marR="171450" marT="152400" marB="152400" anchor="ctr">
                    <a:solidFill>
                      <a:srgbClr val="E5E9DF"/>
                    </a:solidFill>
                  </a:tcPr>
                </a:tc>
                <a:tc>
                  <a:txBody>
                    <a:bodyPr/>
                    <a:lstStyle/>
                    <a:p>
                      <a:r>
                        <a:rPr sz="1800">
                          <a:solidFill>
                            <a:srgbClr val="163C33"/>
                          </a:solidFill>
                          <a:latin typeface="Bitstream Charter"/>
                          <a:ea typeface="Bitstream Charter"/>
                          <a:cs typeface="Bitstream Charter"/>
                        </a:rPr>
                        <a:t>Maintenance evidence + funding</a:t>
                      </a:r>
                    </a:p>
                  </a:txBody>
                  <a:tcPr marL="171450" marR="171450" marT="152400" marB="152400" anchor="ctr">
                    <a:solidFill>
                      <a:srgbClr val="E5E9DF"/>
                    </a:solidFill>
                  </a:tcPr>
                </a:tc>
              </a:tr>
              <a:tr h="814388">
                <a:tc>
                  <a:txBody>
                    <a:bodyPr/>
                    <a:lstStyle/>
                    <a:p>
                      <a:r>
                        <a:rPr sz="1800">
                          <a:solidFill>
                            <a:srgbClr val="163C33"/>
                          </a:solidFill>
                          <a:latin typeface="Bitstream Charter"/>
                          <a:ea typeface="Bitstream Charter"/>
                          <a:cs typeface="Bitstream Charter"/>
                        </a:rPr>
                        <a:t>Relief staffing</a:t>
                      </a:r>
                    </a:p>
                  </a:txBody>
                  <a:tcPr marL="171450" marR="171450" marT="152400" marB="152400" anchor="ctr">
                    <a:solidFill>
                      <a:srgbClr val="EDF0E7"/>
                    </a:solidFill>
                  </a:tcPr>
                </a:tc>
                <a:tc>
                  <a:txBody>
                    <a:bodyPr/>
                    <a:lstStyle/>
                    <a:p>
                      <a:r>
                        <a:rPr sz="1800">
                          <a:solidFill>
                            <a:srgbClr val="163C33"/>
                          </a:solidFill>
                          <a:latin typeface="Bitstream Charter"/>
                          <a:ea typeface="Bitstream Charter"/>
                          <a:cs typeface="Bitstream Charter"/>
                        </a:rPr>
                        <a:t>Better day-off coverage</a:t>
                      </a:r>
                    </a:p>
                  </a:txBody>
                  <a:tcPr marL="171450" marR="171450" marT="152400" marB="152400" anchor="ctr">
                    <a:solidFill>
                      <a:srgbClr val="EDF0E7"/>
                    </a:solidFill>
                  </a:tcPr>
                </a:tc>
                <a:tc>
                  <a:txBody>
                    <a:bodyPr/>
                    <a:lstStyle/>
                    <a:p>
                      <a:r>
                        <a:rPr sz="1800">
                          <a:solidFill>
                            <a:srgbClr val="163C33"/>
                          </a:solidFill>
                          <a:latin typeface="Bitstream Charter"/>
                          <a:ea typeface="Bitstream Charter"/>
                          <a:cs typeface="Bitstream Charter"/>
                        </a:rPr>
                        <a:t>Approved posts + budget</a:t>
                      </a:r>
                    </a:p>
                  </a:txBody>
                  <a:tcPr marL="171450" marR="171450" marT="152400" marB="152400" anchor="ctr">
                    <a:solidFill>
                      <a:srgbClr val="EDF0E7"/>
                    </a:solidFill>
                  </a:tcPr>
                </a:tc>
              </a:tr>
            </a:tbl>
          </a:graphicData>
        </a:graphic>
      </p:graphicFrame>
    </p:spTree>
    <p:extLst>
      <p:ext uri="{BB962C8B-B14F-4D97-AF65-F5344CB8AC3E}">
        <p14:creationId xmlns:p14="http://schemas.microsoft.com/office/powerpoint/2010/main" val="1046360198"/>
      </p:ext>
    </p:extLst>
  </p:cSld>
</p:sld>
</file>

<file path=ppt/slides/slide12.xml><?xml version="1.0" encoding="utf-8"?>
<p:sld xmlns:p="http://schemas.openxmlformats.org/presentationml/2006/main">
  <p:cSld>
    <p:bg>
      <p:bgPr>
        <a:solidFill xmlns:a="http://schemas.openxmlformats.org/drawingml/2006/main">
          <a:srgbClr val="163C3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ADE96AD-9414-4CAE-ADBF-16FD483D237B}"/>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D1E880"/>
                </a:solidFill>
                <a:latin typeface="Bitstream Charter"/>
                <a:ea typeface="Bitstream Charter"/>
                <a:cs typeface="Bitstream Charter"/>
              </a:defRPr>
            </a:pPr>
            <a:r>
              <a:rPr sz="1275" b="1">
                <a:solidFill>
                  <a:srgbClr val="D1E880"/>
                </a:solidFill>
                <a:latin typeface="Bitstream Charter"/>
                <a:ea typeface="Bitstream Charter"/>
                <a:cs typeface="Bitstream Charter"/>
              </a:rPr>
              <a:t>11  /  PROPOSED NEXT STEP</a:t>
            </a:r>
          </a:p>
        </p:txBody>
      </p:sp>
      <p:sp>
        <p:nvSpPr>
          <p:cNvPr id="2" name="">
            <a:extLst xmlns:a="http://schemas.openxmlformats.org/drawingml/2006/main">
              <a:ext uri="{FF2B5EF4-FFF2-40B4-BE49-F238E27FC236}">
                <a16:creationId xmlns:a16="http://schemas.microsoft.com/office/drawing/2014/main" id="{3D13E3D9-85BC-4748-BF06-8EBAF707B9C7}"/>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F4F1E9"/>
                </a:solidFill>
                <a:latin typeface="Bitstream Charter"/>
                <a:ea typeface="Bitstream Charter"/>
                <a:cs typeface="Bitstream Charter"/>
              </a:defRPr>
            </a:pPr>
            <a:r>
              <a:rPr sz="3525" b="1">
                <a:solidFill>
                  <a:srgbClr val="F4F1E9"/>
                </a:solidFill>
                <a:latin typeface="Bitstream Charter"/>
                <a:ea typeface="Bitstream Charter"/>
                <a:cs typeface="Bitstream Charter"/>
              </a:rPr>
              <a:t>Better records can guide staffing and fleet decisions</a:t>
            </a:r>
          </a:p>
        </p:txBody>
      </p:sp>
      <p:sp>
        <p:nvSpPr>
          <p:cNvPr id="3" name="">
            <a:extLst xmlns:a="http://schemas.openxmlformats.org/drawingml/2006/main">
              <a:ext uri="{FF2B5EF4-FFF2-40B4-BE49-F238E27FC236}">
                <a16:creationId xmlns:a16="http://schemas.microsoft.com/office/drawing/2014/main" id="{B0B1DFE5-8F89-4422-B46B-7B00E2CE2490}"/>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A8BDB4"/>
                </a:solidFill>
                <a:latin typeface="Bitstream Charter"/>
                <a:ea typeface="Bitstream Charter"/>
                <a:cs typeface="Bitstream Charter"/>
              </a:defRPr>
            </a:pPr>
            <a:r>
              <a:rPr sz="1050" b="0">
                <a:solidFill>
                  <a:srgbClr val="A8BDB4"/>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292B404E-71B2-4C03-B466-18E5742BAAD8}"/>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D1E880"/>
                </a:solidFill>
                <a:latin typeface="Bitstream Charter"/>
                <a:ea typeface="Bitstream Charter"/>
                <a:cs typeface="Bitstream Charter"/>
              </a:defRPr>
            </a:pPr>
            <a:r>
              <a:rPr sz="1500" b="1">
                <a:solidFill>
                  <a:srgbClr val="D1E880"/>
                </a:solidFill>
                <a:latin typeface="Bitstream Charter"/>
                <a:ea typeface="Bitstream Charter"/>
                <a:cs typeface="Bitstream Charter"/>
              </a:rPr>
              <a:t>12</a:t>
            </a:r>
          </a:p>
        </p:txBody>
      </p:sp>
      <p:sp>
        <p:nvSpPr>
          <p:cNvPr id="5" name="">
            <a:extLst xmlns:a="http://schemas.openxmlformats.org/drawingml/2006/main">
              <a:ext uri="{FF2B5EF4-FFF2-40B4-BE49-F238E27FC236}">
                <a16:creationId xmlns:a16="http://schemas.microsoft.com/office/drawing/2014/main" id="{BD023B4B-497D-459E-B324-C54530F42BF0}"/>
              </a:ext>
            </a:extLst>
          </p:cNvPr>
          <p:cNvSpPr>
            <a:spLocks xmlns:a="http://schemas.openxmlformats.org/drawingml/2006/main" noGrp="1"/>
          </p:cNvSpPr>
          <p:nvPr/>
        </p:nvSpPr>
        <p:spPr>
          <a:xfrm xmlns:a="http://schemas.openxmlformats.org/drawingml/2006/main">
            <a:off x="609600" y="2247900"/>
            <a:ext cx="76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275" b="1">
                <a:solidFill>
                  <a:srgbClr val="D1E880"/>
                </a:solidFill>
                <a:latin typeface="Bitstream Charter"/>
                <a:ea typeface="Bitstream Charter"/>
                <a:cs typeface="Bitstream Charter"/>
              </a:defRPr>
            </a:pPr>
            <a:r>
              <a:rPr sz="4275" b="1">
                <a:solidFill>
                  <a:srgbClr val="D1E880"/>
                </a:solidFill>
                <a:latin typeface="Bitstream Charter"/>
                <a:ea typeface="Bitstream Charter"/>
                <a:cs typeface="Bitstream Charter"/>
              </a:rPr>
              <a:t>1</a:t>
            </a:r>
          </a:p>
        </p:txBody>
      </p:sp>
      <p:sp>
        <p:nvSpPr>
          <p:cNvPr id="6" name="">
            <a:extLst xmlns:a="http://schemas.openxmlformats.org/drawingml/2006/main">
              <a:ext uri="{FF2B5EF4-FFF2-40B4-BE49-F238E27FC236}">
                <a16:creationId xmlns:a16="http://schemas.microsoft.com/office/drawing/2014/main" id="{D9F1A2E8-7902-4C08-B287-031628D25731}"/>
              </a:ext>
            </a:extLst>
          </p:cNvPr>
          <p:cNvSpPr>
            <a:spLocks xmlns:a="http://schemas.openxmlformats.org/drawingml/2006/main" noGrp="1"/>
          </p:cNvSpPr>
          <p:nvPr/>
        </p:nvSpPr>
        <p:spPr>
          <a:xfrm xmlns:a="http://schemas.openxmlformats.org/drawingml/2006/main">
            <a:off x="1685925" y="2247900"/>
            <a:ext cx="9772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F4F1E9"/>
                </a:solidFill>
                <a:latin typeface="Bitstream Charter"/>
                <a:ea typeface="Bitstream Charter"/>
                <a:cs typeface="Bitstream Charter"/>
              </a:defRPr>
            </a:pPr>
            <a:r>
              <a:rPr sz="2550" b="1">
                <a:solidFill>
                  <a:srgbClr val="F4F1E9"/>
                </a:solidFill>
                <a:latin typeface="Bitstream Charter"/>
                <a:ea typeface="Bitstream Charter"/>
                <a:cs typeface="Bitstream Charter"/>
              </a:rPr>
              <a:t>Record the daily workload</a:t>
            </a:r>
          </a:p>
        </p:txBody>
      </p:sp>
      <p:sp>
        <p:nvSpPr>
          <p:cNvPr id="7" name="">
            <a:extLst xmlns:a="http://schemas.openxmlformats.org/drawingml/2006/main">
              <a:ext uri="{FF2B5EF4-FFF2-40B4-BE49-F238E27FC236}">
                <a16:creationId xmlns:a16="http://schemas.microsoft.com/office/drawing/2014/main" id="{B8F8A5D7-0D46-42C6-ABE0-95699489F68B}"/>
              </a:ext>
            </a:extLst>
          </p:cNvPr>
          <p:cNvSpPr>
            <a:spLocks xmlns:a="http://schemas.openxmlformats.org/drawingml/2006/main" noGrp="1"/>
          </p:cNvSpPr>
          <p:nvPr/>
        </p:nvSpPr>
        <p:spPr>
          <a:xfrm xmlns:a="http://schemas.openxmlformats.org/drawingml/2006/main">
            <a:off x="1685925" y="2790825"/>
            <a:ext cx="9772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F4F1E9"/>
                </a:solidFill>
                <a:latin typeface="Bitstream Charter"/>
                <a:ea typeface="Bitstream Charter"/>
                <a:cs typeface="Bitstream Charter"/>
              </a:defRPr>
            </a:pPr>
            <a:r>
              <a:rPr sz="2025" b="0">
                <a:solidFill>
                  <a:srgbClr val="F4F1E9"/>
                </a:solidFill>
                <a:latin typeface="Bitstream Charter"/>
                <a:ea typeface="Bitstream Charter"/>
                <a:cs typeface="Bitstream Charter"/>
              </a:rPr>
              <a:t>Log arrival, weights, source sites, driver, departure and status.</a:t>
            </a:r>
          </a:p>
        </p:txBody>
      </p:sp>
      <p:sp>
        <p:nvSpPr>
          <p:cNvPr id="8" name="">
            <a:extLst xmlns:a="http://schemas.openxmlformats.org/drawingml/2006/main">
              <a:ext uri="{FF2B5EF4-FFF2-40B4-BE49-F238E27FC236}">
                <a16:creationId xmlns:a16="http://schemas.microsoft.com/office/drawing/2014/main" id="{B063D7BE-2211-4180-A30B-C7C3742E253C}"/>
              </a:ext>
            </a:extLst>
          </p:cNvPr>
          <p:cNvSpPr>
            <a:spLocks xmlns:a="http://schemas.openxmlformats.org/drawingml/2006/main" noGrp="1"/>
          </p:cNvSpPr>
          <p:nvPr/>
        </p:nvSpPr>
        <p:spPr>
          <a:xfrm xmlns:a="http://schemas.openxmlformats.org/drawingml/2006/main">
            <a:off x="609600" y="3438525"/>
            <a:ext cx="76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275" b="1">
                <a:solidFill>
                  <a:srgbClr val="D1E880"/>
                </a:solidFill>
                <a:latin typeface="Bitstream Charter"/>
                <a:ea typeface="Bitstream Charter"/>
                <a:cs typeface="Bitstream Charter"/>
              </a:defRPr>
            </a:pPr>
            <a:r>
              <a:rPr sz="4275" b="1">
                <a:solidFill>
                  <a:srgbClr val="D1E880"/>
                </a:solidFill>
                <a:latin typeface="Bitstream Charter"/>
                <a:ea typeface="Bitstream Charter"/>
                <a:cs typeface="Bitstream Charter"/>
              </a:rPr>
              <a:t>2</a:t>
            </a:r>
          </a:p>
        </p:txBody>
      </p:sp>
      <p:sp>
        <p:nvSpPr>
          <p:cNvPr id="9" name="">
            <a:extLst xmlns:a="http://schemas.openxmlformats.org/drawingml/2006/main">
              <a:ext uri="{FF2B5EF4-FFF2-40B4-BE49-F238E27FC236}">
                <a16:creationId xmlns:a16="http://schemas.microsoft.com/office/drawing/2014/main" id="{97E9E6B1-DF2F-4161-A293-C48E097AC2F6}"/>
              </a:ext>
            </a:extLst>
          </p:cNvPr>
          <p:cNvSpPr>
            <a:spLocks xmlns:a="http://schemas.openxmlformats.org/drawingml/2006/main" noGrp="1"/>
          </p:cNvSpPr>
          <p:nvPr/>
        </p:nvSpPr>
        <p:spPr>
          <a:xfrm xmlns:a="http://schemas.openxmlformats.org/drawingml/2006/main">
            <a:off x="1685925" y="3438525"/>
            <a:ext cx="9772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F4F1E9"/>
                </a:solidFill>
                <a:latin typeface="Bitstream Charter"/>
                <a:ea typeface="Bitstream Charter"/>
                <a:cs typeface="Bitstream Charter"/>
              </a:defRPr>
            </a:pPr>
            <a:r>
              <a:rPr sz="2550" b="1">
                <a:solidFill>
                  <a:srgbClr val="F4F1E9"/>
                </a:solidFill>
                <a:latin typeface="Bitstream Charter"/>
                <a:ea typeface="Bitstream Charter"/>
                <a:cs typeface="Bitstream Charter"/>
              </a:rPr>
              <a:t>Confirm the staffing requirement</a:t>
            </a:r>
          </a:p>
        </p:txBody>
      </p:sp>
      <p:sp>
        <p:nvSpPr>
          <p:cNvPr id="10" name="">
            <a:extLst xmlns:a="http://schemas.openxmlformats.org/drawingml/2006/main">
              <a:ext uri="{FF2B5EF4-FFF2-40B4-BE49-F238E27FC236}">
                <a16:creationId xmlns:a16="http://schemas.microsoft.com/office/drawing/2014/main" id="{0A086170-5CEF-4FA5-B313-75FED06E46D6}"/>
              </a:ext>
            </a:extLst>
          </p:cNvPr>
          <p:cNvSpPr>
            <a:spLocks xmlns:a="http://schemas.openxmlformats.org/drawingml/2006/main" noGrp="1"/>
          </p:cNvSpPr>
          <p:nvPr/>
        </p:nvSpPr>
        <p:spPr>
          <a:xfrm xmlns:a="http://schemas.openxmlformats.org/drawingml/2006/main">
            <a:off x="1685925" y="3981450"/>
            <a:ext cx="9772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F4F1E9"/>
                </a:solidFill>
                <a:latin typeface="Bitstream Charter"/>
                <a:ea typeface="Bitstream Charter"/>
                <a:cs typeface="Bitstream Charter"/>
              </a:defRPr>
            </a:pPr>
            <a:r>
              <a:rPr sz="2025" b="0">
                <a:solidFill>
                  <a:srgbClr val="F4F1E9"/>
                </a:solidFill>
                <a:latin typeface="Bitstream Charter"/>
                <a:ea typeface="Bitstream Charter"/>
                <a:cs typeface="Bitstream Charter"/>
              </a:rPr>
              <a:t>Cost relief coverage and the crew needed for a second shift.</a:t>
            </a:r>
          </a:p>
        </p:txBody>
      </p:sp>
      <p:sp>
        <p:nvSpPr>
          <p:cNvPr id="11" name="">
            <a:extLst xmlns:a="http://schemas.openxmlformats.org/drawingml/2006/main">
              <a:ext uri="{FF2B5EF4-FFF2-40B4-BE49-F238E27FC236}">
                <a16:creationId xmlns:a16="http://schemas.microsoft.com/office/drawing/2014/main" id="{29B5D6A1-361E-4EB2-9B2C-D967CF0E36B3}"/>
              </a:ext>
            </a:extLst>
          </p:cNvPr>
          <p:cNvSpPr>
            <a:spLocks xmlns:a="http://schemas.openxmlformats.org/drawingml/2006/main" noGrp="1"/>
          </p:cNvSpPr>
          <p:nvPr/>
        </p:nvSpPr>
        <p:spPr>
          <a:xfrm xmlns:a="http://schemas.openxmlformats.org/drawingml/2006/main">
            <a:off x="609600" y="4629150"/>
            <a:ext cx="76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275" b="1">
                <a:solidFill>
                  <a:srgbClr val="D1E880"/>
                </a:solidFill>
                <a:latin typeface="Bitstream Charter"/>
                <a:ea typeface="Bitstream Charter"/>
                <a:cs typeface="Bitstream Charter"/>
              </a:defRPr>
            </a:pPr>
            <a:r>
              <a:rPr sz="4275" b="1">
                <a:solidFill>
                  <a:srgbClr val="D1E880"/>
                </a:solidFill>
                <a:latin typeface="Bitstream Charter"/>
                <a:ea typeface="Bitstream Charter"/>
                <a:cs typeface="Bitstream Charter"/>
              </a:rPr>
              <a:t>3</a:t>
            </a:r>
          </a:p>
        </p:txBody>
      </p:sp>
      <p:sp>
        <p:nvSpPr>
          <p:cNvPr id="12" name="">
            <a:extLst xmlns:a="http://schemas.openxmlformats.org/drawingml/2006/main">
              <a:ext uri="{FF2B5EF4-FFF2-40B4-BE49-F238E27FC236}">
                <a16:creationId xmlns:a16="http://schemas.microsoft.com/office/drawing/2014/main" id="{6BEA569D-C615-48DE-8D90-3ACF1A9DD59B}"/>
              </a:ext>
            </a:extLst>
          </p:cNvPr>
          <p:cNvSpPr>
            <a:spLocks xmlns:a="http://schemas.openxmlformats.org/drawingml/2006/main" noGrp="1"/>
          </p:cNvSpPr>
          <p:nvPr/>
        </p:nvSpPr>
        <p:spPr>
          <a:xfrm xmlns:a="http://schemas.openxmlformats.org/drawingml/2006/main">
            <a:off x="1685925" y="4629150"/>
            <a:ext cx="9772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F4F1E9"/>
                </a:solidFill>
                <a:latin typeface="Bitstream Charter"/>
                <a:ea typeface="Bitstream Charter"/>
                <a:cs typeface="Bitstream Charter"/>
              </a:defRPr>
            </a:pPr>
            <a:r>
              <a:rPr sz="2550" b="1">
                <a:solidFill>
                  <a:srgbClr val="F4F1E9"/>
                </a:solidFill>
                <a:latin typeface="Bitstream Charter"/>
                <a:ea typeface="Bitstream Charter"/>
                <a:cs typeface="Bitstream Charter"/>
              </a:rPr>
              <a:t>Pilot before expanding</a:t>
            </a:r>
          </a:p>
        </p:txBody>
      </p:sp>
      <p:sp>
        <p:nvSpPr>
          <p:cNvPr id="13" name="">
            <a:extLst xmlns:a="http://schemas.openxmlformats.org/drawingml/2006/main">
              <a:ext uri="{FF2B5EF4-FFF2-40B4-BE49-F238E27FC236}">
                <a16:creationId xmlns:a16="http://schemas.microsoft.com/office/drawing/2014/main" id="{C8D0A68A-47C4-4615-8A5E-FC00C9408688}"/>
              </a:ext>
            </a:extLst>
          </p:cNvPr>
          <p:cNvSpPr>
            <a:spLocks xmlns:a="http://schemas.openxmlformats.org/drawingml/2006/main" noGrp="1"/>
          </p:cNvSpPr>
          <p:nvPr/>
        </p:nvSpPr>
        <p:spPr>
          <a:xfrm xmlns:a="http://schemas.openxmlformats.org/drawingml/2006/main">
            <a:off x="1685925" y="5172075"/>
            <a:ext cx="9772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F4F1E9"/>
                </a:solidFill>
                <a:latin typeface="Bitstream Charter"/>
                <a:ea typeface="Bitstream Charter"/>
                <a:cs typeface="Bitstream Charter"/>
              </a:defRPr>
            </a:pPr>
            <a:r>
              <a:rPr sz="2025" b="0">
                <a:solidFill>
                  <a:srgbClr val="F4F1E9"/>
                </a:solidFill>
                <a:latin typeface="Bitstream Charter"/>
                <a:ea typeface="Bitstream Charter"/>
                <a:cs typeface="Bitstream Charter"/>
              </a:rPr>
              <a:t>Compare completed collections, duty hours and total cost.</a:t>
            </a:r>
          </a:p>
        </p:txBody>
      </p:sp>
    </p:spTree>
    <p:extLst>
      <p:ext uri="{BB962C8B-B14F-4D97-AF65-F5344CB8AC3E}">
        <p14:creationId xmlns:p14="http://schemas.microsoft.com/office/powerpoint/2010/main" val="14833660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2026-10-08T02:48:28.2560000Z</dcterms:created>
  <dcterms:modified xsi:type="dcterms:W3CDTF">2026-10-08T02:48:28.2560000Z</dcterms:modified>
</coreProperties>
</file>